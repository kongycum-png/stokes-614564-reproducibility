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8ecb5462294d20" /><Relationship Type="http://schemas.openxmlformats.org/officeDocument/2006/relationships/extended-properties" Target="/docProps/app.xml" Id="R817177590a534865" /><Relationship Type="http://schemas.openxmlformats.org/officeDocument/2006/relationships/officeDocument" Target="/ppt/presentation.xml" Id="R83a0b12635804fb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21f94eec7f1452a"/>
  </p:sldMasterIdLst>
  <p:notesMasterIdLst>
    <p:notesMasterId xmlns:r="http://schemas.openxmlformats.org/officeDocument/2006/relationships" r:id="Rb694a2d0e9af4f7b"/>
  </p:notesMasterIdLst>
  <p:sldIdLst>
    <p:sldId xmlns:r="http://schemas.openxmlformats.org/officeDocument/2006/relationships" id="256" r:id="Rb08e946c80c94223"/>
    <p:sldId xmlns:r="http://schemas.openxmlformats.org/officeDocument/2006/relationships" id="257" r:id="R1468d4ebf50f4f42"/>
    <p:sldId xmlns:r="http://schemas.openxmlformats.org/officeDocument/2006/relationships" id="258" r:id="R5487a075a6784363"/>
  </p:sldIdLst>
  <p:sldSz cx="15240000" cy="8572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c0278e191014b5b" /><Relationship Type="http://schemas.openxmlformats.org/officeDocument/2006/relationships/slideMaster" Target="/ppt/slideMasters/slideMaster1.xml" Id="Rd21f94eec7f1452a" /><Relationship Type="http://schemas.openxmlformats.org/officeDocument/2006/relationships/notesMaster" Target="/ppt/notesMasters/notesMaster1.xml" Id="Rb694a2d0e9af4f7b" /><Relationship Type="http://schemas.openxmlformats.org/officeDocument/2006/relationships/presProps" Target="/ppt/presProps.xml" Id="R11bfb2a42fa7483b" /><Relationship Type="http://schemas.openxmlformats.org/officeDocument/2006/relationships/viewProps" Target="/ppt/viewProps.xml" Id="R147aee91d8e44c94" /><Relationship Type="http://schemas.openxmlformats.org/officeDocument/2006/relationships/tableStyles" Target="/ppt/tableStyles.xml" Id="R78322f5880f940e1" /><Relationship Type="http://schemas.openxmlformats.org/officeDocument/2006/relationships/slide" Target="/ppt/slides/slide1.xml" Id="Rb08e946c80c94223" /><Relationship Type="http://schemas.openxmlformats.org/officeDocument/2006/relationships/slide" Target="/ppt/slides/slide2.xml" Id="R1468d4ebf50f4f42" /><Relationship Type="http://schemas.openxmlformats.org/officeDocument/2006/relationships/slide" Target="/ppt/slides/slide3.xml" Id="R5487a075a678436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0e3c70a9cb8483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34bdad0c6304cc5" /><Relationship Type="http://schemas.openxmlformats.org/officeDocument/2006/relationships/notesMaster" Target="/ppt/notesMasters/notesMaster1.xml" Id="Rdce421cf94fe495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1ada534db1746ee" /><Relationship Type="http://schemas.openxmlformats.org/officeDocument/2006/relationships/notesMaster" Target="/ppt/notesMasters/notesMaster1.xml" Id="R3a8ddb15ab5a43b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dabc9f26f4a4978" /><Relationship Type="http://schemas.openxmlformats.org/officeDocument/2006/relationships/notesMaster" Target="/ppt/notesMasters/notesMaster1.xml" Id="R1e13ec84159745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Figure_S1_optical_layout.pdf, panel a.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Source: editable optical-layout deck with author-review corrections.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One proposed implementation is drawn: reflective phase-only LCOS-SLMs with a common working-axis orientation. The lower arm uses an HWP before modulation and a second HWP after its fold mirror to restore V at PBS2. Both arms retain Fourier-plane filtering. The drawing is schematic, with exaggerated incident/reflected separation; incidence angles and conjugate-plane distances are not specified.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Reflective phase modulation and polarization-axis alignment: Hamamatsu LCOS-SLM X15213 series, principle of modulation. https://www.hamamatsu.com/content/dam/hamamatsu-photonics/sites/documents/99_SALES_LIBRARY/lpd/x15213_E.pdf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Circular-basis convention: e+ = (H+iV)/sqrt(2), e- = (H-iV)/sqrt(2). In the ideal model, the preparation QWP has its slow axis at +45 degrees and the analyzer QWP has its fast axis at +45 degrees. Circular-port signs must be calibrated, including any relay/mirror effects. Jones conventions: https://media.thorlabs.com/globalassets/family-pages/SharedAssets/p/po/Polarization_Handedness_Tutorial.pdf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Constant hologram/channel phases are adjusted to prepare the intended radial input, including compensation of fixed QWP/reflection phases. This does not imply a need for active phase locking of the intensity observable. main.tex lines 226-228: spatially uniform relative phase leaves I+/I- and S3 unchanged.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 output weak beam splitter supplies the prepared field for full-Stokes polarimetry and circular-channel reference interferometry. The reference wave is a separate unmodulated coherent reference combined in the certification module; the certification sample is not the unprepared PBS1 field.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P6 is handled by an output envelope/balance/wavefront calibration requirement, without specifying a flat-top shaping device or claiming achieved beam quality. Hardware model, retardance, optical tolerances, phase-only hologram encoding, intensity/charge/polarimetry certification and measurement precision remain experimental data required. The apparatus has not been built in this study (main.tex 874-876).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This is current Supplementary Fig. S1, as referenced in main.tex 865 and SI.tex figure experiment, not the earlier report label S6.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Zhu et al., Journal of Applied Physics 137, 223105 (2025), DOI 10.1063/5.0270605. Sec. III Eq. (5) and Fig. 2(b) include a blazed-grating carrier. Sec. IV and Fig. 3(a) use an L3-L4-aperture 4f system to isolate the +1 diffraction order. Here F+ and F- denote the two arm filters, and both pass their own +1 order; the arm signs are not diffraction-order signs. The polarizer P in Fig. 3 identifies polarization control. A two-SLM common-working-axis configuration is the present proposal, not their published apparatus. https://doi.org/10.1063/5.0270605 Primary article text accessed at https://www.researchgate.net/publication/392627647_Diverse_particle_manipulation_within_different_2D_planes_via_orientation-selective_Airy_vortex_beams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Liu et al., Nature Communications 12, 2230 (2021), DOI 10.1038/s41467-021-22462-z. Introduction separately discusses propagation of conventional different-charge beams and degradation from component misalignment. Our changing circular-channel profiles are part of the measured signal. The proposed interferometer requires common-axis registration, radial-envelope/power matching, and differential-wavefront calibration. No measured robustness is claimed, and the difference of two in charges is not evidence that alignment or aberration errors are negligible. https://www.nature.com/articles/s41467-021-22462-z Primary author manuscript: https://tsapps.nist.gov/publication/get_pdf.cfm?pub_id=930295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Yan et al., Photonics 12, 1029 (2025), DOI 10.3390/photonics12101029. Sec. 2.3 and Sec. 3 / Fig. 1 use a circularly polarized divergent spherical reference, produced by a QWP and lens, for coaxial interference to identify individual circular-component charges. The present certification module uses a weak sample of the prepared output, circular-channel selection, and a separately prepared mutually coherent reference from the same laser. The reference supply is a module input, not a sample of the prepared beam mistaken for an unmodulated reference. https://www.mdpi.com/2304-6732/12/10/1029 Primary article full text accessed at https://www.researchgate.net/publication/396644562_Vector_Vortex_Beams_Theory_Generation_and_Detection_of_Laguerre-Gaussian_and_Bessel-Gaussian_Types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Carrier selection is a proposal for generating the desired common complex envelope, not proof of achieved radial amplitude or phase fidelity. Fixed QWP/reflection phases must be calibrated for the intended input. Focal lengths, carrier periods, aperture sizes, coherence and charge-sign calibration remain device-specific requirements. The apparatus remains unbuilt.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Figure_S1_optical_layout.pdf, panel b.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Analyzer QWP_A fast axis +45 degrees relative to PBS3 H transmission axis in the declared e+/e- convention. Ideally e+ maps to H (camera+) and e- to V (camera-). Actual port handedness is calibrated after the imaging relay and mirror train. https://media.thorlabs.com/globalassets/family-pages/SharedAssets/p/po/Polarization_Handedness_Tutorial.pdf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Figure_S1_optical_layout.pdf, panel c.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db2ccbdf914b01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e1834bc134b4c08" /><Relationship Type="http://schemas.openxmlformats.org/officeDocument/2006/relationships/slideLayout" Target="/ppt/slideLayouts/slideLayout1.xml" Id="Rc89b7877efc044a3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89b7877efc044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e9e31de6c94156" /><Relationship Type="http://schemas.openxmlformats.org/officeDocument/2006/relationships/notesSlide" Target="/ppt/notesSlides/notesSlide1.xml" Id="R3a5c2811bd344e8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b37b997fce499b" /><Relationship Type="http://schemas.openxmlformats.org/officeDocument/2006/relationships/notesSlide" Target="/ppt/notesSlides/notesSlide2.xml" Id="R31a2a24c38624d7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11829c8ab6456f" /><Relationship Type="http://schemas.openxmlformats.org/officeDocument/2006/relationships/notesSlide" Target="/ppt/notesSlides/notesSlide3.xml" Id="Rde89690732544db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5" name="figure-frame-1">
            <a:extLst xmlns:a="http://schemas.openxmlformats.org/drawingml/2006/main">
              <a:ext uri="{FF2B5EF4-FFF2-40B4-BE49-F238E27FC236}">
                <a16:creationId xmlns:a16="http://schemas.microsoft.com/office/drawing/2014/main" id="{A7E64754-72BA-45B7-A474-62525102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0500"/>
            <a:ext cx="14668500" cy="817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A9AC"/>
            </a:solidFill>
            <a:prstDash val="solid"/>
          </a:ln>
        </p:spPr>
      </p:sp>
      <p:sp>
        <p:nvSpPr>
          <p:cNvPr id="2" name="panel-2">
            <a:extLst xmlns:a="http://schemas.openxmlformats.org/drawingml/2006/main">
              <a:ext uri="{FF2B5EF4-FFF2-40B4-BE49-F238E27FC236}">
                <a16:creationId xmlns:a16="http://schemas.microsoft.com/office/drawing/2014/main" id="{6A760417-ACA2-42BE-B7E5-B7B16D7A2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38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330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a</a:t>
            </a:r>
            <a:endParaRPr sz="3300">
              <a:solidFill>
                <a:srgbClr val="2F343D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3" name="title-3">
            <a:extLst xmlns:a="http://schemas.openxmlformats.org/drawingml/2006/main">
              <a:ext uri="{FF2B5EF4-FFF2-40B4-BE49-F238E27FC236}">
                <a16:creationId xmlns:a16="http://schemas.microsoft.com/office/drawing/2014/main" id="{E5E6C461-E1CF-490B-84F0-79A37DB98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315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Preparation of the two circular Airy channels</a:t>
            </a:r>
            <a:endParaRPr sz="3150">
              <a:solidFill>
                <a:srgbClr val="2F343D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116" name="beam-envelope-1001">
            <a:extLst xmlns:a="http://schemas.openxmlformats.org/drawingml/2006/main">
              <a:ext uri="{FF2B5EF4-FFF2-40B4-BE49-F238E27FC236}">
                <a16:creationId xmlns:a16="http://schemas.microsoft.com/office/drawing/2014/main" id="{E5A62C3E-AA67-4BC4-A12D-612C6BF28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71675" y="3886200"/>
            <a:ext cx="274320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6690">
            <a:solidFill>
              <a:srgbClr val="00A58F">
                <a:alpha val="13000"/>
              </a:srgbClr>
            </a:solidFill>
            <a:prstDash val="solid"/>
          </a:ln>
        </p:spPr>
      </p:sp>
      <p:sp>
        <p:nvSpPr>
          <p:cNvPr id="117" name="beam-1002">
            <a:extLst xmlns:a="http://schemas.openxmlformats.org/drawingml/2006/main">
              <a:ext uri="{FF2B5EF4-FFF2-40B4-BE49-F238E27FC236}">
                <a16:creationId xmlns:a16="http://schemas.microsoft.com/office/drawing/2014/main" id="{E58F05A6-31BC-4A52-82FC-B99166BAB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971675" y="3886200"/>
            <a:ext cx="274320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4290">
            <a:solidFill>
              <a:srgbClr val="00A58F"/>
            </a:solidFill>
            <a:prstDash val="solid"/>
          </a:ln>
        </p:spPr>
      </p:sp>
      <p:sp>
        <p:nvSpPr>
          <p:cNvPr id="118" name="beam-envelope-1003">
            <a:extLst xmlns:a="http://schemas.openxmlformats.org/drawingml/2006/main">
              <a:ext uri="{FF2B5EF4-FFF2-40B4-BE49-F238E27FC236}">
                <a16:creationId xmlns:a16="http://schemas.microsoft.com/office/drawing/2014/main" id="{047C7CAD-A32C-42EC-B155-C4224F481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14875" y="2190750"/>
            <a:ext cx="904875" cy="1695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0588CC">
                <a:alpha val="13000"/>
              </a:srgbClr>
            </a:solidFill>
            <a:prstDash val="solid"/>
          </a:ln>
        </p:spPr>
      </p:sp>
      <p:sp>
        <p:nvSpPr>
          <p:cNvPr id="119" name="beam-1004">
            <a:extLst xmlns:a="http://schemas.openxmlformats.org/drawingml/2006/main">
              <a:ext uri="{FF2B5EF4-FFF2-40B4-BE49-F238E27FC236}">
                <a16:creationId xmlns:a16="http://schemas.microsoft.com/office/drawing/2014/main" id="{19223A50-D8A2-4486-8ABA-896D38D74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714875" y="2190750"/>
            <a:ext cx="904875" cy="1695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0588CC"/>
            </a:solidFill>
            <a:prstDash val="solid"/>
          </a:ln>
        </p:spPr>
      </p:sp>
      <p:sp>
        <p:nvSpPr>
          <p:cNvPr id="120" name="beam-envelope-1005">
            <a:extLst xmlns:a="http://schemas.openxmlformats.org/drawingml/2006/main">
              <a:ext uri="{FF2B5EF4-FFF2-40B4-BE49-F238E27FC236}">
                <a16:creationId xmlns:a16="http://schemas.microsoft.com/office/drawing/2014/main" id="{6E847122-1E38-416B-9C34-EEB864AB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2190750"/>
            <a:ext cx="247650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0588CC">
                <a:alpha val="13000"/>
              </a:srgbClr>
            </a:solidFill>
            <a:prstDash val="solid"/>
          </a:ln>
        </p:spPr>
      </p:sp>
      <p:sp>
        <p:nvSpPr>
          <p:cNvPr id="121" name="beam-1006">
            <a:extLst xmlns:a="http://schemas.openxmlformats.org/drawingml/2006/main">
              <a:ext uri="{FF2B5EF4-FFF2-40B4-BE49-F238E27FC236}">
                <a16:creationId xmlns:a16="http://schemas.microsoft.com/office/drawing/2014/main" id="{94BA5265-3B39-46DB-870B-CDD3DDAB5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2190750"/>
            <a:ext cx="247650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0588CC"/>
            </a:solidFill>
            <a:prstDash val="solid"/>
          </a:ln>
        </p:spPr>
      </p:sp>
      <p:sp>
        <p:nvSpPr>
          <p:cNvPr id="122" name="beam-envelope-1007">
            <a:extLst xmlns:a="http://schemas.openxmlformats.org/drawingml/2006/main">
              <a:ext uri="{FF2B5EF4-FFF2-40B4-BE49-F238E27FC236}">
                <a16:creationId xmlns:a16="http://schemas.microsoft.com/office/drawing/2014/main" id="{D4FC4D57-CC4C-4153-B7A9-A22BFF4F0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34250" y="2190750"/>
            <a:ext cx="76200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0588CC">
                <a:alpha val="13000"/>
              </a:srgbClr>
            </a:solidFill>
            <a:prstDash val="solid"/>
          </a:ln>
        </p:spPr>
      </p:sp>
      <p:sp>
        <p:nvSpPr>
          <p:cNvPr id="123" name="beam-1008">
            <a:extLst xmlns:a="http://schemas.openxmlformats.org/drawingml/2006/main">
              <a:ext uri="{FF2B5EF4-FFF2-40B4-BE49-F238E27FC236}">
                <a16:creationId xmlns:a16="http://schemas.microsoft.com/office/drawing/2014/main" id="{D0E02FA0-166A-4BDF-A320-C9E800C4D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334250" y="2190750"/>
            <a:ext cx="762000" cy="809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0588CC"/>
            </a:solidFill>
            <a:prstDash val="solid"/>
          </a:ln>
        </p:spPr>
      </p:sp>
      <p:sp>
        <p:nvSpPr>
          <p:cNvPr id="124" name="beam-envelope-1009">
            <a:extLst xmlns:a="http://schemas.openxmlformats.org/drawingml/2006/main">
              <a:ext uri="{FF2B5EF4-FFF2-40B4-BE49-F238E27FC236}">
                <a16:creationId xmlns:a16="http://schemas.microsoft.com/office/drawing/2014/main" id="{CF6629DB-464C-4C72-B7FB-4E9B3D871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3000375"/>
            <a:ext cx="485775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0588CC">
                <a:alpha val="13000"/>
              </a:srgbClr>
            </a:solidFill>
            <a:prstDash val="solid"/>
          </a:ln>
        </p:spPr>
      </p:sp>
      <p:sp>
        <p:nvSpPr>
          <p:cNvPr id="125" name="beam-1010">
            <a:extLst xmlns:a="http://schemas.openxmlformats.org/drawingml/2006/main">
              <a:ext uri="{FF2B5EF4-FFF2-40B4-BE49-F238E27FC236}">
                <a16:creationId xmlns:a16="http://schemas.microsoft.com/office/drawing/2014/main" id="{847A6807-958B-4FB0-A900-F45007E29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3000375"/>
            <a:ext cx="485775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0588CC"/>
            </a:solidFill>
            <a:prstDash val="solid"/>
          </a:ln>
        </p:spPr>
      </p:sp>
      <p:sp>
        <p:nvSpPr>
          <p:cNvPr id="126" name="beam-envelope-1011">
            <a:extLst xmlns:a="http://schemas.openxmlformats.org/drawingml/2006/main">
              <a:ext uri="{FF2B5EF4-FFF2-40B4-BE49-F238E27FC236}">
                <a16:creationId xmlns:a16="http://schemas.microsoft.com/office/drawing/2014/main" id="{B5274C4F-0653-4057-96B1-FA55C3002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0" y="3000375"/>
            <a:ext cx="76200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0588CC">
                <a:alpha val="13000"/>
              </a:srgbClr>
            </a:solidFill>
            <a:prstDash val="solid"/>
          </a:ln>
        </p:spPr>
      </p:sp>
      <p:sp>
        <p:nvSpPr>
          <p:cNvPr id="127" name="beam-1012">
            <a:extLst xmlns:a="http://schemas.openxmlformats.org/drawingml/2006/main">
              <a:ext uri="{FF2B5EF4-FFF2-40B4-BE49-F238E27FC236}">
                <a16:creationId xmlns:a16="http://schemas.microsoft.com/office/drawing/2014/main" id="{E9CF4554-59DC-433B-8E01-DB5ED81F7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192000" y="3000375"/>
            <a:ext cx="762000" cy="8858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0588CC"/>
            </a:solidFill>
            <a:prstDash val="solid"/>
          </a:ln>
        </p:spPr>
      </p:sp>
      <p:sp>
        <p:nvSpPr>
          <p:cNvPr id="128" name="beam-envelope-1013">
            <a:extLst xmlns:a="http://schemas.openxmlformats.org/drawingml/2006/main">
              <a:ext uri="{FF2B5EF4-FFF2-40B4-BE49-F238E27FC236}">
                <a16:creationId xmlns:a16="http://schemas.microsoft.com/office/drawing/2014/main" id="{D125E5BD-F40B-4519-A8FF-29B539BFB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3886200"/>
            <a:ext cx="904875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E86B00">
                <a:alpha val="13000"/>
              </a:srgbClr>
            </a:solidFill>
            <a:prstDash val="solid"/>
          </a:ln>
        </p:spPr>
      </p:sp>
      <p:sp>
        <p:nvSpPr>
          <p:cNvPr id="129" name="beam-1014">
            <a:extLst xmlns:a="http://schemas.openxmlformats.org/drawingml/2006/main">
              <a:ext uri="{FF2B5EF4-FFF2-40B4-BE49-F238E27FC236}">
                <a16:creationId xmlns:a16="http://schemas.microsoft.com/office/drawing/2014/main" id="{D0EBA5AB-4E55-46A4-99B3-C2838C2D6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714875" y="3886200"/>
            <a:ext cx="904875" cy="1733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86B00"/>
            </a:solidFill>
            <a:prstDash val="solid"/>
          </a:ln>
        </p:spPr>
      </p:sp>
      <p:sp>
        <p:nvSpPr>
          <p:cNvPr id="130" name="beam-envelope-1015">
            <a:extLst xmlns:a="http://schemas.openxmlformats.org/drawingml/2006/main">
              <a:ext uri="{FF2B5EF4-FFF2-40B4-BE49-F238E27FC236}">
                <a16:creationId xmlns:a16="http://schemas.microsoft.com/office/drawing/2014/main" id="{8E75ADE6-7605-4E16-BD49-07F650745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5619750"/>
            <a:ext cx="247650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E86B00">
                <a:alpha val="13000"/>
              </a:srgbClr>
            </a:solidFill>
            <a:prstDash val="solid"/>
          </a:ln>
        </p:spPr>
      </p:sp>
      <p:sp>
        <p:nvSpPr>
          <p:cNvPr id="131" name="beam-1016">
            <a:extLst xmlns:a="http://schemas.openxmlformats.org/drawingml/2006/main">
              <a:ext uri="{FF2B5EF4-FFF2-40B4-BE49-F238E27FC236}">
                <a16:creationId xmlns:a16="http://schemas.microsoft.com/office/drawing/2014/main" id="{65A060B9-42E4-4C75-8A6A-A3D6FE66D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619750" y="5619750"/>
            <a:ext cx="247650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86B00"/>
            </a:solidFill>
            <a:prstDash val="solid"/>
          </a:ln>
        </p:spPr>
      </p:sp>
      <p:sp>
        <p:nvSpPr>
          <p:cNvPr id="132" name="beam-envelope-1017">
            <a:extLst xmlns:a="http://schemas.openxmlformats.org/drawingml/2006/main">
              <a:ext uri="{FF2B5EF4-FFF2-40B4-BE49-F238E27FC236}">
                <a16:creationId xmlns:a16="http://schemas.microsoft.com/office/drawing/2014/main" id="{C105928F-2E3D-4B3D-953E-3A5974FC7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334250" y="4762500"/>
            <a:ext cx="762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E86B00">
                <a:alpha val="13000"/>
              </a:srgbClr>
            </a:solidFill>
            <a:prstDash val="solid"/>
          </a:ln>
        </p:spPr>
      </p:sp>
      <p:sp>
        <p:nvSpPr>
          <p:cNvPr id="133" name="beam-1018">
            <a:extLst xmlns:a="http://schemas.openxmlformats.org/drawingml/2006/main">
              <a:ext uri="{FF2B5EF4-FFF2-40B4-BE49-F238E27FC236}">
                <a16:creationId xmlns:a16="http://schemas.microsoft.com/office/drawing/2014/main" id="{61EB2E7E-5FFA-4FF9-B9B8-B21C0F74B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334250" y="4762500"/>
            <a:ext cx="762000" cy="8572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86B00"/>
            </a:solidFill>
            <a:prstDash val="solid"/>
          </a:ln>
        </p:spPr>
      </p:sp>
      <p:sp>
        <p:nvSpPr>
          <p:cNvPr id="134" name="beam-envelope-1019">
            <a:extLst xmlns:a="http://schemas.openxmlformats.org/drawingml/2006/main">
              <a:ext uri="{FF2B5EF4-FFF2-40B4-BE49-F238E27FC236}">
                <a16:creationId xmlns:a16="http://schemas.microsoft.com/office/drawing/2014/main" id="{9ED301BC-97E7-41BF-88F0-E5E8CB59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4762500"/>
            <a:ext cx="485775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E86B00">
                <a:alpha val="13000"/>
              </a:srgbClr>
            </a:solidFill>
            <a:prstDash val="solid"/>
          </a:ln>
        </p:spPr>
      </p:sp>
      <p:sp>
        <p:nvSpPr>
          <p:cNvPr id="135" name="beam-1020">
            <a:extLst xmlns:a="http://schemas.openxmlformats.org/drawingml/2006/main">
              <a:ext uri="{FF2B5EF4-FFF2-40B4-BE49-F238E27FC236}">
                <a16:creationId xmlns:a16="http://schemas.microsoft.com/office/drawing/2014/main" id="{BBF8B3EB-86A8-4663-AAEE-881C3DE92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334250" y="4762500"/>
            <a:ext cx="485775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86B00"/>
            </a:solidFill>
            <a:prstDash val="solid"/>
          </a:ln>
        </p:spPr>
      </p:sp>
      <p:sp>
        <p:nvSpPr>
          <p:cNvPr id="136" name="beam-envelope-1021">
            <a:extLst xmlns:a="http://schemas.openxmlformats.org/drawingml/2006/main">
              <a:ext uri="{FF2B5EF4-FFF2-40B4-BE49-F238E27FC236}">
                <a16:creationId xmlns:a16="http://schemas.microsoft.com/office/drawing/2014/main" id="{9B13E673-5015-4A14-B2F9-F1CA67D1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192000" y="3886200"/>
            <a:ext cx="76200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E86B00">
                <a:alpha val="13000"/>
              </a:srgbClr>
            </a:solidFill>
            <a:prstDash val="solid"/>
          </a:ln>
        </p:spPr>
      </p:sp>
      <p:sp>
        <p:nvSpPr>
          <p:cNvPr id="137" name="beam-1022">
            <a:extLst xmlns:a="http://schemas.openxmlformats.org/drawingml/2006/main">
              <a:ext uri="{FF2B5EF4-FFF2-40B4-BE49-F238E27FC236}">
                <a16:creationId xmlns:a16="http://schemas.microsoft.com/office/drawing/2014/main" id="{E86FD211-120B-4182-A655-393E6E440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2192000" y="3886200"/>
            <a:ext cx="762000" cy="8763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E86B00"/>
            </a:solidFill>
            <a:prstDash val="solid"/>
          </a:ln>
        </p:spPr>
      </p:sp>
      <p:sp>
        <p:nvSpPr>
          <p:cNvPr id="138" name="beam-envelope-1023">
            <a:extLst xmlns:a="http://schemas.openxmlformats.org/drawingml/2006/main">
              <a:ext uri="{FF2B5EF4-FFF2-40B4-BE49-F238E27FC236}">
                <a16:creationId xmlns:a16="http://schemas.microsoft.com/office/drawing/2014/main" id="{4F58872F-A468-40C2-BDA7-E76742164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54000" y="3886200"/>
            <a:ext cx="165735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85738">
            <a:solidFill>
              <a:srgbClr val="7548A5">
                <a:alpha val="13000"/>
              </a:srgbClr>
            </a:solidFill>
            <a:prstDash val="solid"/>
          </a:ln>
        </p:spPr>
      </p:sp>
      <p:sp>
        <p:nvSpPr>
          <p:cNvPr id="139" name="beam-1024">
            <a:extLst xmlns:a="http://schemas.openxmlformats.org/drawingml/2006/main">
              <a:ext uri="{FF2B5EF4-FFF2-40B4-BE49-F238E27FC236}">
                <a16:creationId xmlns:a16="http://schemas.microsoft.com/office/drawing/2014/main" id="{77E4925F-8B02-49C2-B142-D3E744262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954000" y="3886200"/>
            <a:ext cx="165735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7548A5"/>
            </a:solidFill>
            <a:prstDash val="solid"/>
          </a:ln>
        </p:spPr>
      </p:sp>
      <p:sp>
        <p:nvSpPr>
          <p:cNvPr id="140" name="arrow-1025">
            <a:extLst xmlns:a="http://schemas.openxmlformats.org/drawingml/2006/main">
              <a:ext uri="{FF2B5EF4-FFF2-40B4-BE49-F238E27FC236}">
                <a16:creationId xmlns:a16="http://schemas.microsoft.com/office/drawing/2014/main" id="{FB38570D-2C9A-4B70-86FD-20609E96A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477000" y="2190750"/>
            <a:ext cx="29527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88CC"/>
            </a:solidFill>
            <a:prstDash val="solid"/>
          </a:ln>
        </p:spPr>
      </p:sp>
      <p:sp>
        <p:nvSpPr>
          <p:cNvPr id="141" name="arrow-head-1026">
            <a:extLst xmlns:a="http://schemas.openxmlformats.org/drawingml/2006/main">
              <a:ext uri="{FF2B5EF4-FFF2-40B4-BE49-F238E27FC236}">
                <a16:creationId xmlns:a16="http://schemas.microsoft.com/office/drawing/2014/main" id="{87E9A683-31B3-4329-8CED-131BF4AE6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153888"/>
            <a:ext cx="85725" cy="73724"/>
          </a:xfrm>
          <a:custGeom xmlns:a="http://schemas.openxmlformats.org/drawingml/2006/main">
            <a:pathLst>
              <a:path w="85725" h="73724">
                <a:moveTo>
                  <a:pt x="85725" y="36862"/>
                </a:moveTo>
                <a:lnTo>
                  <a:pt x="0" y="73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588CC"/>
          </a:solidFill>
          <a:ln xmlns:a="http://schemas.openxmlformats.org/drawingml/2006/main" w="0">
            <a:noFill/>
          </a:ln>
        </p:spPr>
      </p:sp>
      <p:sp>
        <p:nvSpPr>
          <p:cNvPr id="142" name="arrow-1027">
            <a:extLst xmlns:a="http://schemas.openxmlformats.org/drawingml/2006/main">
              <a:ext uri="{FF2B5EF4-FFF2-40B4-BE49-F238E27FC236}">
                <a16:creationId xmlns:a16="http://schemas.microsoft.com/office/drawing/2014/main" id="{3F3C2672-350A-4DA9-B5BA-8065BCBA3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781925" y="2314575"/>
            <a:ext cx="200025" cy="2095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0588CC"/>
            </a:solidFill>
            <a:prstDash val="solid"/>
          </a:ln>
        </p:spPr>
      </p:sp>
      <p:sp>
        <p:nvSpPr>
          <p:cNvPr id="143" name="arrow-head-1028">
            <a:extLst xmlns:a="http://schemas.openxmlformats.org/drawingml/2006/main">
              <a:ext uri="{FF2B5EF4-FFF2-40B4-BE49-F238E27FC236}">
                <a16:creationId xmlns:a16="http://schemas.microsoft.com/office/drawing/2014/main" id="{F81AF274-3D0F-4CFE-B8F9-7E4BBFD38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2446381"/>
            <a:ext cx="76316" cy="77744"/>
          </a:xfrm>
          <a:custGeom xmlns:a="http://schemas.openxmlformats.org/drawingml/2006/main">
            <a:pathLst>
              <a:path w="76316" h="77744">
                <a:moveTo>
                  <a:pt x="0" y="77744"/>
                </a:moveTo>
                <a:lnTo>
                  <a:pt x="28913" y="0"/>
                </a:lnTo>
                <a:lnTo>
                  <a:pt x="76316" y="45248"/>
                </a:lnTo>
                <a:close/>
              </a:path>
            </a:pathLst>
          </a:custGeom>
          <a:solidFill xmlns:a="http://schemas.openxmlformats.org/drawingml/2006/main">
            <a:srgbClr val="0588CC"/>
          </a:solidFill>
          <a:ln xmlns:a="http://schemas.openxmlformats.org/drawingml/2006/main" w="0">
            <a:noFill/>
          </a:ln>
        </p:spPr>
      </p:sp>
      <p:sp>
        <p:nvSpPr>
          <p:cNvPr id="144" name="arrow-1029">
            <a:extLst xmlns:a="http://schemas.openxmlformats.org/drawingml/2006/main">
              <a:ext uri="{FF2B5EF4-FFF2-40B4-BE49-F238E27FC236}">
                <a16:creationId xmlns:a16="http://schemas.microsoft.com/office/drawing/2014/main" id="{1FB1B492-2551-4A91-A7D9-5CC9F902E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86900" y="3000375"/>
            <a:ext cx="16192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0588CC"/>
            </a:solidFill>
            <a:prstDash val="solid"/>
          </a:ln>
        </p:spPr>
      </p:sp>
      <p:sp>
        <p:nvSpPr>
          <p:cNvPr id="145" name="arrow-head-1030">
            <a:extLst xmlns:a="http://schemas.openxmlformats.org/drawingml/2006/main">
              <a:ext uri="{FF2B5EF4-FFF2-40B4-BE49-F238E27FC236}">
                <a16:creationId xmlns:a16="http://schemas.microsoft.com/office/drawing/2014/main" id="{ECE2BB6D-B426-468E-B1D7-F7862DFD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963513"/>
            <a:ext cx="85725" cy="73724"/>
          </a:xfrm>
          <a:custGeom xmlns:a="http://schemas.openxmlformats.org/drawingml/2006/main">
            <a:pathLst>
              <a:path w="85725" h="73724">
                <a:moveTo>
                  <a:pt x="85725" y="36862"/>
                </a:moveTo>
                <a:lnTo>
                  <a:pt x="0" y="73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588CC"/>
          </a:solidFill>
          <a:ln xmlns:a="http://schemas.openxmlformats.org/drawingml/2006/main" w="0">
            <a:noFill/>
          </a:ln>
        </p:spPr>
      </p:sp>
      <p:sp>
        <p:nvSpPr>
          <p:cNvPr id="146" name="arrow-1031">
            <a:extLst xmlns:a="http://schemas.openxmlformats.org/drawingml/2006/main">
              <a:ext uri="{FF2B5EF4-FFF2-40B4-BE49-F238E27FC236}">
                <a16:creationId xmlns:a16="http://schemas.microsoft.com/office/drawing/2014/main" id="{6DFFFEA5-6460-4409-AE76-12C8A85E1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505700" y="5619750"/>
            <a:ext cx="25717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6B00"/>
            </a:solidFill>
            <a:prstDash val="solid"/>
          </a:ln>
        </p:spPr>
      </p:sp>
      <p:sp>
        <p:nvSpPr>
          <p:cNvPr id="147" name="arrow-head-1032">
            <a:extLst xmlns:a="http://schemas.openxmlformats.org/drawingml/2006/main">
              <a:ext uri="{FF2B5EF4-FFF2-40B4-BE49-F238E27FC236}">
                <a16:creationId xmlns:a16="http://schemas.microsoft.com/office/drawing/2014/main" id="{FC8893E6-F5BD-42C4-B9CE-D3E7F0F6C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582888"/>
            <a:ext cx="85725" cy="73724"/>
          </a:xfrm>
          <a:custGeom xmlns:a="http://schemas.openxmlformats.org/drawingml/2006/main">
            <a:pathLst>
              <a:path w="85725" h="73724">
                <a:moveTo>
                  <a:pt x="85725" y="36862"/>
                </a:moveTo>
                <a:lnTo>
                  <a:pt x="0" y="73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6B00"/>
          </a:solidFill>
          <a:ln xmlns:a="http://schemas.openxmlformats.org/drawingml/2006/main" w="0">
            <a:noFill/>
          </a:ln>
        </p:spPr>
      </p:sp>
      <p:sp>
        <p:nvSpPr>
          <p:cNvPr id="148" name="arrow-1033">
            <a:extLst xmlns:a="http://schemas.openxmlformats.org/drawingml/2006/main">
              <a:ext uri="{FF2B5EF4-FFF2-40B4-BE49-F238E27FC236}">
                <a16:creationId xmlns:a16="http://schemas.microsoft.com/office/drawing/2014/main" id="{AEAD5D75-1839-46E2-BF8F-48C6A42F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7781925" y="5267325"/>
            <a:ext cx="200025" cy="2286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718">
            <a:solidFill>
              <a:srgbClr val="E86B00"/>
            </a:solidFill>
            <a:prstDash val="solid"/>
          </a:ln>
        </p:spPr>
      </p:sp>
      <p:sp>
        <p:nvSpPr>
          <p:cNvPr id="149" name="arrow-head-1034">
            <a:extLst xmlns:a="http://schemas.openxmlformats.org/drawingml/2006/main">
              <a:ext uri="{FF2B5EF4-FFF2-40B4-BE49-F238E27FC236}">
                <a16:creationId xmlns:a16="http://schemas.microsoft.com/office/drawing/2014/main" id="{034613C9-E6FD-4F3D-9A63-DE610931D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5267325"/>
            <a:ext cx="74837" cy="78923"/>
          </a:xfrm>
          <a:custGeom xmlns:a="http://schemas.openxmlformats.org/drawingml/2006/main">
            <a:pathLst>
              <a:path w="74837" h="78923">
                <a:moveTo>
                  <a:pt x="0" y="0"/>
                </a:moveTo>
                <a:lnTo>
                  <a:pt x="74837" y="35770"/>
                </a:lnTo>
                <a:lnTo>
                  <a:pt x="25519" y="78923"/>
                </a:lnTo>
                <a:close/>
              </a:path>
            </a:pathLst>
          </a:custGeom>
          <a:solidFill xmlns:a="http://schemas.openxmlformats.org/drawingml/2006/main">
            <a:srgbClr val="E86B00"/>
          </a:solidFill>
          <a:ln xmlns:a="http://schemas.openxmlformats.org/drawingml/2006/main" w="0">
            <a:noFill/>
          </a:ln>
        </p:spPr>
      </p:sp>
      <p:sp>
        <p:nvSpPr>
          <p:cNvPr id="150" name="arrow-1035">
            <a:extLst xmlns:a="http://schemas.openxmlformats.org/drawingml/2006/main">
              <a:ext uri="{FF2B5EF4-FFF2-40B4-BE49-F238E27FC236}">
                <a16:creationId xmlns:a16="http://schemas.microsoft.com/office/drawing/2014/main" id="{363BF79A-D5A3-45B5-A07E-A35E76FB7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9486900" y="4762500"/>
            <a:ext cx="16192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86B00"/>
            </a:solidFill>
            <a:prstDash val="solid"/>
          </a:ln>
        </p:spPr>
      </p:sp>
      <p:sp>
        <p:nvSpPr>
          <p:cNvPr id="151" name="arrow-head-1036">
            <a:extLst xmlns:a="http://schemas.openxmlformats.org/drawingml/2006/main">
              <a:ext uri="{FF2B5EF4-FFF2-40B4-BE49-F238E27FC236}">
                <a16:creationId xmlns:a16="http://schemas.microsoft.com/office/drawing/2014/main" id="{CE09A98E-C7E2-4DA4-B9C6-7D0608FC3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4725638"/>
            <a:ext cx="85725" cy="73724"/>
          </a:xfrm>
          <a:custGeom xmlns:a="http://schemas.openxmlformats.org/drawingml/2006/main">
            <a:pathLst>
              <a:path w="85725" h="73724">
                <a:moveTo>
                  <a:pt x="85725" y="36862"/>
                </a:moveTo>
                <a:lnTo>
                  <a:pt x="0" y="73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6B00"/>
          </a:solidFill>
          <a:ln xmlns:a="http://schemas.openxmlformats.org/drawingml/2006/main" w="0">
            <a:noFill/>
          </a:ln>
        </p:spPr>
      </p:sp>
      <p:sp>
        <p:nvSpPr>
          <p:cNvPr id="152" name="arrow-1037">
            <a:extLst xmlns:a="http://schemas.openxmlformats.org/drawingml/2006/main">
              <a:ext uri="{FF2B5EF4-FFF2-40B4-BE49-F238E27FC236}">
                <a16:creationId xmlns:a16="http://schemas.microsoft.com/office/drawing/2014/main" id="{8D156EBC-E7B3-489B-99D2-880D962F8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382750" y="3886200"/>
            <a:ext cx="22860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3338">
            <a:solidFill>
              <a:srgbClr val="7548A5"/>
            </a:solidFill>
            <a:prstDash val="solid"/>
          </a:ln>
        </p:spPr>
      </p:sp>
      <p:sp>
        <p:nvSpPr>
          <p:cNvPr id="153" name="arrow-head-1038">
            <a:extLst xmlns:a="http://schemas.openxmlformats.org/drawingml/2006/main">
              <a:ext uri="{FF2B5EF4-FFF2-40B4-BE49-F238E27FC236}">
                <a16:creationId xmlns:a16="http://schemas.microsoft.com/office/drawing/2014/main" id="{54E0F77B-6F80-4610-BC33-AB261E0BB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3845243"/>
            <a:ext cx="95250" cy="81915"/>
          </a:xfrm>
          <a:custGeom xmlns:a="http://schemas.openxmlformats.org/drawingml/2006/main">
            <a:pathLst>
              <a:path w="95250" h="81915">
                <a:moveTo>
                  <a:pt x="95250" y="40958"/>
                </a:moveTo>
                <a:lnTo>
                  <a:pt x="0" y="819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548A5"/>
          </a:solidFill>
          <a:ln xmlns:a="http://schemas.openxmlformats.org/drawingml/2006/main" w="0">
            <a:noFill/>
          </a:ln>
        </p:spPr>
      </p:sp>
      <p:sp>
        <p:nvSpPr>
          <p:cNvPr id="154" name="laser-1039">
            <a:extLst xmlns:a="http://schemas.openxmlformats.org/drawingml/2006/main">
              <a:ext uri="{FF2B5EF4-FFF2-40B4-BE49-F238E27FC236}">
                <a16:creationId xmlns:a16="http://schemas.microsoft.com/office/drawing/2014/main" id="{60859302-2B59-4EF0-8A7E-0BFC4D4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581400"/>
            <a:ext cx="1400175" cy="6096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575E67"/>
          </a:solidFill>
          <a:ln xmlns:a="http://schemas.openxmlformats.org/drawingml/2006/main" w="19050">
            <a:solidFill>
              <a:srgbClr val="2F343D"/>
            </a:solidFill>
            <a:prstDash val="solid"/>
          </a:ln>
        </p:spPr>
      </p:sp>
      <p:sp>
        <p:nvSpPr>
          <p:cNvPr id="155" name="label-1040">
            <a:extLst xmlns:a="http://schemas.openxmlformats.org/drawingml/2006/main">
              <a:ext uri="{FF2B5EF4-FFF2-40B4-BE49-F238E27FC236}">
                <a16:creationId xmlns:a16="http://schemas.microsoft.com/office/drawing/2014/main" id="{D3A68237-2A30-46AC-8820-2851494C2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3619500"/>
            <a:ext cx="126682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175" b="1" i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</a:rPr>
              <a:t>CW</a:t>
            </a:r>
          </a:p>
        </p:txBody>
      </p:sp>
      <p:sp>
        <p:nvSpPr>
          <p:cNvPr id="156" name="laser-output-1041">
            <a:extLst xmlns:a="http://schemas.openxmlformats.org/drawingml/2006/main">
              <a:ext uri="{FF2B5EF4-FFF2-40B4-BE49-F238E27FC236}">
                <a16:creationId xmlns:a16="http://schemas.microsoft.com/office/drawing/2014/main" id="{5AC442E8-7A09-4991-9917-E92730F5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5475" y="3771900"/>
            <a:ext cx="1619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69FA9"/>
          </a:solidFill>
          <a:ln xmlns:a="http://schemas.openxmlformats.org/drawingml/2006/main" w="14288">
            <a:solidFill>
              <a:srgbClr val="2F343D"/>
            </a:solidFill>
            <a:prstDash val="solid"/>
          </a:ln>
        </p:spPr>
      </p:sp>
      <p:sp>
        <p:nvSpPr>
          <p:cNvPr id="157" name="label-1042">
            <a:extLst xmlns:a="http://schemas.openxmlformats.org/drawingml/2006/main">
              <a:ext uri="{FF2B5EF4-FFF2-40B4-BE49-F238E27FC236}">
                <a16:creationId xmlns:a16="http://schemas.microsoft.com/office/drawing/2014/main" id="{6BFAC646-8543-4FC4-91B3-7F2C9740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9600"/>
            <a:ext cx="1657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632.8 nm laser</a:t>
            </a:r>
          </a:p>
        </p:txBody>
      </p:sp>
      <p:sp>
        <p:nvSpPr>
          <p:cNvPr id="158" name="aperture-1043">
            <a:extLst xmlns:a="http://schemas.openxmlformats.org/drawingml/2006/main">
              <a:ext uri="{FF2B5EF4-FFF2-40B4-BE49-F238E27FC236}">
                <a16:creationId xmlns:a16="http://schemas.microsoft.com/office/drawing/2014/main" id="{49B2C864-0D1C-4121-AF24-57813991C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3743325"/>
            <a:ext cx="7239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2F343D"/>
            </a:solidFill>
          </a:ln>
        </p:spPr>
      </p:sp>
      <p:sp>
        <p:nvSpPr>
          <p:cNvPr id="159" name="aperture-hole-1044">
            <a:extLst xmlns:a="http://schemas.openxmlformats.org/drawingml/2006/main">
              <a:ext uri="{FF2B5EF4-FFF2-40B4-BE49-F238E27FC236}">
                <a16:creationId xmlns:a16="http://schemas.microsoft.com/office/drawing/2014/main" id="{3B256B0A-DB04-4077-9628-DD590B58C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3848100"/>
            <a:ext cx="1524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43D"/>
          </a:solidFill>
          <a:ln xmlns:a="http://schemas.openxmlformats.org/drawingml/2006/main" w="0">
            <a:noFill/>
          </a:ln>
        </p:spPr>
      </p:sp>
      <p:sp>
        <p:nvSpPr>
          <p:cNvPr id="160" name="label-1045">
            <a:extLst xmlns:a="http://schemas.openxmlformats.org/drawingml/2006/main">
              <a:ext uri="{FF2B5EF4-FFF2-40B4-BE49-F238E27FC236}">
                <a16:creationId xmlns:a16="http://schemas.microsoft.com/office/drawing/2014/main" id="{A536A2B8-075E-406B-8AE1-76565A17A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00550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SF</a:t>
            </a:r>
          </a:p>
        </p:txBody>
      </p:sp>
      <p:sp>
        <p:nvSpPr>
          <p:cNvPr id="161" name="lens-1046">
            <a:extLst xmlns:a="http://schemas.openxmlformats.org/drawingml/2006/main">
              <a:ext uri="{FF2B5EF4-FFF2-40B4-BE49-F238E27FC236}">
                <a16:creationId xmlns:a16="http://schemas.microsoft.com/office/drawing/2014/main" id="{E3468BAD-9BC1-4E56-8D67-1FF6B8170E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514725"/>
            <a:ext cx="2857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8EE"/>
          </a:solidFill>
          <a:ln xmlns:a="http://schemas.openxmlformats.org/drawingml/2006/main" w="20003">
            <a:solidFill>
              <a:srgbClr val="32889B"/>
            </a:solidFill>
          </a:ln>
        </p:spPr>
      </p:sp>
      <p:sp>
        <p:nvSpPr>
          <p:cNvPr id="162" name="label-1047">
            <a:extLst xmlns:a="http://schemas.openxmlformats.org/drawingml/2006/main">
              <a:ext uri="{FF2B5EF4-FFF2-40B4-BE49-F238E27FC236}">
                <a16:creationId xmlns:a16="http://schemas.microsoft.com/office/drawing/2014/main" id="{8D937586-56EF-4931-B111-F6A1B79A0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4457700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L₁</a:t>
            </a:r>
          </a:p>
        </p:txBody>
      </p:sp>
      <p:sp>
        <p:nvSpPr>
          <p:cNvPr id="163" name="lens-1048">
            <a:extLst xmlns:a="http://schemas.openxmlformats.org/drawingml/2006/main">
              <a:ext uri="{FF2B5EF4-FFF2-40B4-BE49-F238E27FC236}">
                <a16:creationId xmlns:a16="http://schemas.microsoft.com/office/drawing/2014/main" id="{9713B9EB-D7C3-4D2B-9999-1CFEF40B0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514725"/>
            <a:ext cx="2857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8EE"/>
          </a:solidFill>
          <a:ln xmlns:a="http://schemas.openxmlformats.org/drawingml/2006/main" w="20003">
            <a:solidFill>
              <a:srgbClr val="32889B"/>
            </a:solidFill>
          </a:ln>
        </p:spPr>
      </p:sp>
      <p:sp>
        <p:nvSpPr>
          <p:cNvPr id="164" name="label-1049">
            <a:extLst xmlns:a="http://schemas.openxmlformats.org/drawingml/2006/main">
              <a:ext uri="{FF2B5EF4-FFF2-40B4-BE49-F238E27FC236}">
                <a16:creationId xmlns:a16="http://schemas.microsoft.com/office/drawing/2014/main" id="{1FD72E10-A3C9-4FFF-90A9-AB468C375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57700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L₂</a:t>
            </a:r>
          </a:p>
        </p:txBody>
      </p:sp>
      <p:sp>
        <p:nvSpPr>
          <p:cNvPr id="165" name="waveplate-1050">
            <a:extLst xmlns:a="http://schemas.openxmlformats.org/drawingml/2006/main">
              <a:ext uri="{FF2B5EF4-FFF2-40B4-BE49-F238E27FC236}">
                <a16:creationId xmlns:a16="http://schemas.microsoft.com/office/drawing/2014/main" id="{2D5C3FDE-169B-41C8-A95C-6188CDB8A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514725"/>
            <a:ext cx="152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5"/>
          </a:solidFill>
          <a:ln xmlns:a="http://schemas.openxmlformats.org/drawingml/2006/main" w="19050">
            <a:solidFill>
              <a:srgbClr val="2F343D"/>
            </a:solidFill>
            <a:prstDash val="solid"/>
          </a:ln>
        </p:spPr>
      </p:sp>
      <p:sp>
        <p:nvSpPr>
          <p:cNvPr id="166" name="label-1051">
            <a:extLst xmlns:a="http://schemas.openxmlformats.org/drawingml/2006/main">
              <a:ext uri="{FF2B5EF4-FFF2-40B4-BE49-F238E27FC236}">
                <a16:creationId xmlns:a16="http://schemas.microsoft.com/office/drawing/2014/main" id="{BB502C3A-6812-43D0-B418-31F05B38E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4695825"/>
            <a:ext cx="704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HWP</a:t>
            </a:r>
          </a:p>
        </p:txBody>
      </p:sp>
      <p:sp>
        <p:nvSpPr>
          <p:cNvPr id="167" name="PBS-1052">
            <a:extLst xmlns:a="http://schemas.openxmlformats.org/drawingml/2006/main">
              <a:ext uri="{FF2B5EF4-FFF2-40B4-BE49-F238E27FC236}">
                <a16:creationId xmlns:a16="http://schemas.microsoft.com/office/drawing/2014/main" id="{2C33D309-C556-4F54-B298-72CB7CB46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95700"/>
            <a:ext cx="70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F3">
              <a:alpha val="72000"/>
            </a:srgbClr>
          </a:solidFill>
          <a:ln xmlns:a="http://schemas.openxmlformats.org/drawingml/2006/main" w="19050">
            <a:solidFill>
              <a:srgbClr val="5F9AAC"/>
            </a:solidFill>
            <a:prstDash val="solid"/>
          </a:ln>
        </p:spPr>
      </p:sp>
      <p:sp>
        <p:nvSpPr>
          <p:cNvPr id="168" name="PBS-diagonal-1053">
            <a:extLst xmlns:a="http://schemas.openxmlformats.org/drawingml/2006/main">
              <a:ext uri="{FF2B5EF4-FFF2-40B4-BE49-F238E27FC236}">
                <a16:creationId xmlns:a16="http://schemas.microsoft.com/office/drawing/2014/main" id="{D35A9A20-61B4-4E89-A756-6803B059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362450" y="3695700"/>
            <a:ext cx="7048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A6B6"/>
            </a:solidFill>
            <a:prstDash val="solid"/>
          </a:ln>
        </p:spPr>
      </p:sp>
      <p:sp>
        <p:nvSpPr>
          <p:cNvPr id="169" name="label-1054">
            <a:extLst xmlns:a="http://schemas.openxmlformats.org/drawingml/2006/main">
              <a:ext uri="{FF2B5EF4-FFF2-40B4-BE49-F238E27FC236}">
                <a16:creationId xmlns:a16="http://schemas.microsoft.com/office/drawing/2014/main" id="{155ECF3F-E413-4DDF-A807-61B195E6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443865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PBS₁</a:t>
            </a:r>
          </a:p>
        </p:txBody>
      </p:sp>
      <p:sp>
        <p:nvSpPr>
          <p:cNvPr id="170" name="ray-matched-mirror-1055">
            <a:extLst xmlns:a="http://schemas.openxmlformats.org/drawingml/2006/main">
              <a:ext uri="{FF2B5EF4-FFF2-40B4-BE49-F238E27FC236}">
                <a16:creationId xmlns:a16="http://schemas.microsoft.com/office/drawing/2014/main" id="{43B5A9C7-9445-4294-BB03-9C6DD2FB3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09353" y="2004574"/>
            <a:ext cx="620793" cy="3723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2525"/>
            </a:solidFill>
            <a:prstDash val="solid"/>
          </a:ln>
        </p:spPr>
      </p:sp>
      <p:sp>
        <p:nvSpPr>
          <p:cNvPr id="171" name="mirror-highlight-1056">
            <a:extLst xmlns:a="http://schemas.openxmlformats.org/drawingml/2006/main">
              <a:ext uri="{FF2B5EF4-FFF2-40B4-BE49-F238E27FC236}">
                <a16:creationId xmlns:a16="http://schemas.microsoft.com/office/drawing/2014/main" id="{8AE84374-237A-44EE-83CC-E96DAE4ED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5309353" y="2004574"/>
            <a:ext cx="620793" cy="3723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2917D"/>
            </a:solidFill>
            <a:prstDash val="solid"/>
          </a:ln>
        </p:spPr>
      </p:sp>
      <p:sp>
        <p:nvSpPr>
          <p:cNvPr id="172" name="label-1057">
            <a:extLst xmlns:a="http://schemas.openxmlformats.org/drawingml/2006/main">
              <a:ext uri="{FF2B5EF4-FFF2-40B4-BE49-F238E27FC236}">
                <a16:creationId xmlns:a16="http://schemas.microsoft.com/office/drawing/2014/main" id="{57F2CF9A-7FA0-4DE3-81B0-7539FAF6A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514475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M₁</a:t>
            </a:r>
          </a:p>
        </p:txBody>
      </p:sp>
      <p:sp>
        <p:nvSpPr>
          <p:cNvPr id="173" name="ray-matched-mirror-1058">
            <a:extLst xmlns:a="http://schemas.openxmlformats.org/drawingml/2006/main">
              <a:ext uri="{FF2B5EF4-FFF2-40B4-BE49-F238E27FC236}">
                <a16:creationId xmlns:a16="http://schemas.microsoft.com/office/drawing/2014/main" id="{AC8C3A06-52DF-407D-9D5B-EA974D152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0211" y="5432152"/>
            <a:ext cx="619079" cy="3751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2525"/>
            </a:solidFill>
            <a:prstDash val="solid"/>
          </a:ln>
        </p:spPr>
      </p:sp>
      <p:sp>
        <p:nvSpPr>
          <p:cNvPr id="174" name="mirror-highlight-1059">
            <a:extLst xmlns:a="http://schemas.openxmlformats.org/drawingml/2006/main">
              <a:ext uri="{FF2B5EF4-FFF2-40B4-BE49-F238E27FC236}">
                <a16:creationId xmlns:a16="http://schemas.microsoft.com/office/drawing/2014/main" id="{4E257FDA-F808-401B-949B-9C7CF29F6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5310211" y="5432152"/>
            <a:ext cx="619079" cy="37519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2917D"/>
            </a:solidFill>
            <a:prstDash val="solid"/>
          </a:ln>
        </p:spPr>
      </p:sp>
      <p:sp>
        <p:nvSpPr>
          <p:cNvPr id="175" name="label-1060">
            <a:extLst xmlns:a="http://schemas.openxmlformats.org/drawingml/2006/main">
              <a:ext uri="{FF2B5EF4-FFF2-40B4-BE49-F238E27FC236}">
                <a16:creationId xmlns:a16="http://schemas.microsoft.com/office/drawing/2014/main" id="{F95601FE-A106-489E-A52D-8674E15CC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6019800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M₂</a:t>
            </a:r>
          </a:p>
        </p:txBody>
      </p:sp>
      <p:sp>
        <p:nvSpPr>
          <p:cNvPr id="176" name="reflective-LCOS-SLM₊-1061">
            <a:extLst xmlns:a="http://schemas.openxmlformats.org/drawingml/2006/main">
              <a:ext uri="{FF2B5EF4-FFF2-40B4-BE49-F238E27FC236}">
                <a16:creationId xmlns:a16="http://schemas.microsoft.com/office/drawing/2014/main" id="{7F851BAB-4A2B-4664-ACD1-85310261F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402071">
            <a:off x="7981950" y="1819275"/>
            <a:ext cx="228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4F8"/>
          </a:solidFill>
          <a:ln xmlns:a="http://schemas.openxmlformats.org/drawingml/2006/main" w="19050">
            <a:solidFill>
              <a:srgbClr val="2F343D"/>
            </a:solidFill>
          </a:ln>
        </p:spPr>
      </p:sp>
      <p:sp>
        <p:nvSpPr>
          <p:cNvPr id="177" name="LCOS-grating-1062">
            <a:extLst xmlns:a="http://schemas.openxmlformats.org/drawingml/2006/main">
              <a:ext uri="{FF2B5EF4-FFF2-40B4-BE49-F238E27FC236}">
                <a16:creationId xmlns:a16="http://schemas.microsoft.com/office/drawing/2014/main" id="{DB8D821F-5ED8-4E16-8696-CA2572BA6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33040" y="1884505"/>
            <a:ext cx="103523" cy="96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548A5"/>
            </a:solidFill>
            <a:prstDash val="solid"/>
          </a:ln>
        </p:spPr>
      </p:sp>
      <p:sp>
        <p:nvSpPr>
          <p:cNvPr id="178" name="LCOS-grating-1063">
            <a:extLst xmlns:a="http://schemas.openxmlformats.org/drawingml/2006/main">
              <a:ext uri="{FF2B5EF4-FFF2-40B4-BE49-F238E27FC236}">
                <a16:creationId xmlns:a16="http://schemas.microsoft.com/office/drawing/2014/main" id="{038B4675-DB55-4E10-81DD-2D026425B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978375" y="1989430"/>
            <a:ext cx="103523" cy="96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548A5"/>
            </a:solidFill>
            <a:prstDash val="solid"/>
          </a:ln>
        </p:spPr>
      </p:sp>
      <p:sp>
        <p:nvSpPr>
          <p:cNvPr id="179" name="LCOS-grating-1064">
            <a:extLst xmlns:a="http://schemas.openxmlformats.org/drawingml/2006/main">
              <a:ext uri="{FF2B5EF4-FFF2-40B4-BE49-F238E27FC236}">
                <a16:creationId xmlns:a16="http://schemas.microsoft.com/office/drawing/2014/main" id="{BA42D3B7-8928-444A-BE90-511FC889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23710" y="2094355"/>
            <a:ext cx="103523" cy="96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548A5"/>
            </a:solidFill>
            <a:prstDash val="solid"/>
          </a:ln>
        </p:spPr>
      </p:sp>
      <p:sp>
        <p:nvSpPr>
          <p:cNvPr id="180" name="LCOS-grating-1065">
            <a:extLst xmlns:a="http://schemas.openxmlformats.org/drawingml/2006/main">
              <a:ext uri="{FF2B5EF4-FFF2-40B4-BE49-F238E27FC236}">
                <a16:creationId xmlns:a16="http://schemas.microsoft.com/office/drawing/2014/main" id="{57FA80D7-3C2E-46AA-8DD9-C45F29907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069045" y="2199279"/>
            <a:ext cx="103523" cy="96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548A5"/>
            </a:solidFill>
            <a:prstDash val="solid"/>
          </a:ln>
        </p:spPr>
      </p:sp>
      <p:sp>
        <p:nvSpPr>
          <p:cNvPr id="181" name="LCOS-grating-1066">
            <a:extLst xmlns:a="http://schemas.openxmlformats.org/drawingml/2006/main">
              <a:ext uri="{FF2B5EF4-FFF2-40B4-BE49-F238E27FC236}">
                <a16:creationId xmlns:a16="http://schemas.microsoft.com/office/drawing/2014/main" id="{6424056B-D764-42CB-BE3E-BC0800686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8114380" y="2304204"/>
            <a:ext cx="103523" cy="9661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548A5"/>
            </a:solidFill>
            <a:prstDash val="solid"/>
          </a:ln>
        </p:spPr>
      </p:sp>
      <p:sp>
        <p:nvSpPr>
          <p:cNvPr id="182" name="label-1067">
            <a:extLst xmlns:a="http://schemas.openxmlformats.org/drawingml/2006/main">
              <a:ext uri="{FF2B5EF4-FFF2-40B4-BE49-F238E27FC236}">
                <a16:creationId xmlns:a16="http://schemas.microsoft.com/office/drawing/2014/main" id="{55CB1D1F-D66E-4C2D-91E9-087B603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4859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SLM₊</a:t>
            </a:r>
          </a:p>
        </p:txBody>
      </p:sp>
      <p:sp>
        <p:nvSpPr>
          <p:cNvPr id="183" name="reflective-LCOS-SLM₋-1068">
            <a:extLst xmlns:a="http://schemas.openxmlformats.org/drawingml/2006/main">
              <a:ext uri="{FF2B5EF4-FFF2-40B4-BE49-F238E27FC236}">
                <a16:creationId xmlns:a16="http://schemas.microsoft.com/office/drawing/2014/main" id="{9AE7F392-962A-493D-8FFD-AF8BA4860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450994">
            <a:off x="7981950" y="5248275"/>
            <a:ext cx="2286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AEEE3"/>
          </a:solidFill>
          <a:ln xmlns:a="http://schemas.openxmlformats.org/drawingml/2006/main" w="19050">
            <a:solidFill>
              <a:srgbClr val="2F343D"/>
            </a:solidFill>
          </a:ln>
        </p:spPr>
      </p:sp>
      <p:sp>
        <p:nvSpPr>
          <p:cNvPr id="184" name="LCOS-grating-1069">
            <a:extLst xmlns:a="http://schemas.openxmlformats.org/drawingml/2006/main">
              <a:ext uri="{FF2B5EF4-FFF2-40B4-BE49-F238E27FC236}">
                <a16:creationId xmlns:a16="http://schemas.microsoft.com/office/drawing/2014/main" id="{CC987EE4-E632-48D8-B431-08948ADE1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140780" y="5357831"/>
            <a:ext cx="141157" cy="111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548A5"/>
            </a:solidFill>
            <a:prstDash val="solid"/>
          </a:ln>
        </p:spPr>
      </p:sp>
      <p:sp>
        <p:nvSpPr>
          <p:cNvPr id="185" name="LCOS-grating-1070">
            <a:extLst xmlns:a="http://schemas.openxmlformats.org/drawingml/2006/main">
              <a:ext uri="{FF2B5EF4-FFF2-40B4-BE49-F238E27FC236}">
                <a16:creationId xmlns:a16="http://schemas.microsoft.com/office/drawing/2014/main" id="{E1436E78-51B0-43A2-93B7-2B6751997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93956" y="5462100"/>
            <a:ext cx="141157" cy="111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548A5"/>
            </a:solidFill>
            <a:prstDash val="solid"/>
          </a:ln>
        </p:spPr>
      </p:sp>
      <p:sp>
        <p:nvSpPr>
          <p:cNvPr id="186" name="LCOS-grating-1071">
            <a:extLst xmlns:a="http://schemas.openxmlformats.org/drawingml/2006/main">
              <a:ext uri="{FF2B5EF4-FFF2-40B4-BE49-F238E27FC236}">
                <a16:creationId xmlns:a16="http://schemas.microsoft.com/office/drawing/2014/main" id="{F5979D44-BC35-4560-9131-3FECFA06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47132" y="5566369"/>
            <a:ext cx="141157" cy="111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548A5"/>
            </a:solidFill>
            <a:prstDash val="solid"/>
          </a:ln>
        </p:spPr>
      </p:sp>
      <p:sp>
        <p:nvSpPr>
          <p:cNvPr id="187" name="LCOS-grating-1072">
            <a:extLst xmlns:a="http://schemas.openxmlformats.org/drawingml/2006/main">
              <a:ext uri="{FF2B5EF4-FFF2-40B4-BE49-F238E27FC236}">
                <a16:creationId xmlns:a16="http://schemas.microsoft.com/office/drawing/2014/main" id="{6DDD46B9-C4B9-4C55-A276-D7957C677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8000309" y="5670638"/>
            <a:ext cx="141157" cy="111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548A5"/>
            </a:solidFill>
            <a:prstDash val="solid"/>
          </a:ln>
        </p:spPr>
      </p:sp>
      <p:sp>
        <p:nvSpPr>
          <p:cNvPr id="188" name="LCOS-grating-1073">
            <a:extLst xmlns:a="http://schemas.openxmlformats.org/drawingml/2006/main">
              <a:ext uri="{FF2B5EF4-FFF2-40B4-BE49-F238E27FC236}">
                <a16:creationId xmlns:a16="http://schemas.microsoft.com/office/drawing/2014/main" id="{42DFF974-811C-40C0-B63C-0C8E86320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953485" y="5774907"/>
            <a:ext cx="141157" cy="111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7548A5"/>
            </a:solidFill>
            <a:prstDash val="solid"/>
          </a:ln>
        </p:spPr>
      </p:sp>
      <p:sp>
        <p:nvSpPr>
          <p:cNvPr id="189" name="label-1074">
            <a:extLst xmlns:a="http://schemas.openxmlformats.org/drawingml/2006/main">
              <a:ext uri="{FF2B5EF4-FFF2-40B4-BE49-F238E27FC236}">
                <a16:creationId xmlns:a16="http://schemas.microsoft.com/office/drawing/2014/main" id="{7FB91146-9F59-4210-BE1C-8232D4F47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6048375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SLM₋</a:t>
            </a:r>
          </a:p>
        </p:txBody>
      </p:sp>
      <p:sp>
        <p:nvSpPr>
          <p:cNvPr id="190" name="fold-mirror-1075">
            <a:extLst xmlns:a="http://schemas.openxmlformats.org/drawingml/2006/main">
              <a:ext uri="{FF2B5EF4-FFF2-40B4-BE49-F238E27FC236}">
                <a16:creationId xmlns:a16="http://schemas.microsoft.com/office/drawing/2014/main" id="{133E4636-F5CF-4F6A-8C10-2141EFB1D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2246" y="2764294"/>
            <a:ext cx="204008" cy="4721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2525"/>
            </a:solidFill>
            <a:prstDash val="solid"/>
          </a:ln>
        </p:spPr>
      </p:sp>
      <p:sp>
        <p:nvSpPr>
          <p:cNvPr id="191" name="fold-highlight-1076">
            <a:extLst xmlns:a="http://schemas.openxmlformats.org/drawingml/2006/main">
              <a:ext uri="{FF2B5EF4-FFF2-40B4-BE49-F238E27FC236}">
                <a16:creationId xmlns:a16="http://schemas.microsoft.com/office/drawing/2014/main" id="{524D6764-2765-492B-9D7D-ED5A25E4D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232246" y="2764294"/>
            <a:ext cx="204008" cy="4721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917D"/>
            </a:solidFill>
            <a:prstDash val="solid"/>
          </a:ln>
        </p:spPr>
      </p:sp>
      <p:sp>
        <p:nvSpPr>
          <p:cNvPr id="192" name="label-1077">
            <a:extLst xmlns:a="http://schemas.openxmlformats.org/drawingml/2006/main">
              <a:ext uri="{FF2B5EF4-FFF2-40B4-BE49-F238E27FC236}">
                <a16:creationId xmlns:a16="http://schemas.microsoft.com/office/drawing/2014/main" id="{3B71A660-327A-4939-B5DB-0E02E17A5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3333750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R₊</a:t>
            </a:r>
          </a:p>
        </p:txBody>
      </p:sp>
      <p:sp>
        <p:nvSpPr>
          <p:cNvPr id="193" name="fold-mirror-1078">
            <a:extLst xmlns:a="http://schemas.openxmlformats.org/drawingml/2006/main">
              <a:ext uri="{FF2B5EF4-FFF2-40B4-BE49-F238E27FC236}">
                <a16:creationId xmlns:a16="http://schemas.microsoft.com/office/drawing/2014/main" id="{6E89C2EA-52A2-4314-85FB-5537AA878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228897" y="4527895"/>
            <a:ext cx="210707" cy="4692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2525"/>
            </a:solidFill>
            <a:prstDash val="solid"/>
          </a:ln>
        </p:spPr>
      </p:sp>
      <p:sp>
        <p:nvSpPr>
          <p:cNvPr id="194" name="fold-highlight-1079">
            <a:extLst xmlns:a="http://schemas.openxmlformats.org/drawingml/2006/main">
              <a:ext uri="{FF2B5EF4-FFF2-40B4-BE49-F238E27FC236}">
                <a16:creationId xmlns:a16="http://schemas.microsoft.com/office/drawing/2014/main" id="{5518302E-E328-4E3D-BA67-3254EBB00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228897" y="4527895"/>
            <a:ext cx="210707" cy="46921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F2917D"/>
            </a:solidFill>
            <a:prstDash val="solid"/>
          </a:ln>
        </p:spPr>
      </p:sp>
      <p:sp>
        <p:nvSpPr>
          <p:cNvPr id="195" name="label-1080">
            <a:extLst xmlns:a="http://schemas.openxmlformats.org/drawingml/2006/main">
              <a:ext uri="{FF2B5EF4-FFF2-40B4-BE49-F238E27FC236}">
                <a16:creationId xmlns:a16="http://schemas.microsoft.com/office/drawing/2014/main" id="{304D9E40-3908-49CD-B9B5-39180BA2D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124325"/>
            <a:ext cx="12382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R₋</a:t>
            </a:r>
          </a:p>
        </p:txBody>
      </p:sp>
      <p:sp>
        <p:nvSpPr>
          <p:cNvPr id="196" name="label-1081">
            <a:extLst xmlns:a="http://schemas.openxmlformats.org/drawingml/2006/main">
              <a:ext uri="{FF2B5EF4-FFF2-40B4-BE49-F238E27FC236}">
                <a16:creationId xmlns:a16="http://schemas.microsoft.com/office/drawing/2014/main" id="{27E7EA48-60D7-4972-A96F-69C06513E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752600"/>
            <a:ext cx="381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0588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0588CC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197" name="HWP-1082">
            <a:extLst xmlns:a="http://schemas.openxmlformats.org/drawingml/2006/main">
              <a:ext uri="{FF2B5EF4-FFF2-40B4-BE49-F238E27FC236}">
                <a16:creationId xmlns:a16="http://schemas.microsoft.com/office/drawing/2014/main" id="{85E63C71-C264-46C8-A191-739DABF74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5334000"/>
            <a:ext cx="13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5"/>
          </a:solidFill>
          <a:ln xmlns:a="http://schemas.openxmlformats.org/drawingml/2006/main" w="17145">
            <a:solidFill>
              <a:srgbClr val="2F343D"/>
            </a:solidFill>
            <a:prstDash val="solid"/>
          </a:ln>
        </p:spPr>
      </p:sp>
      <p:sp>
        <p:nvSpPr>
          <p:cNvPr id="198" name="label-1083">
            <a:extLst xmlns:a="http://schemas.openxmlformats.org/drawingml/2006/main">
              <a:ext uri="{FF2B5EF4-FFF2-40B4-BE49-F238E27FC236}">
                <a16:creationId xmlns:a16="http://schemas.microsoft.com/office/drawing/2014/main" id="{43A8CC22-38F1-465C-99B8-5E2615E3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6067425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HWPᵢ</a:t>
            </a:r>
          </a:p>
        </p:txBody>
      </p:sp>
      <p:sp>
        <p:nvSpPr>
          <p:cNvPr id="199" name="label-1084">
            <a:extLst xmlns:a="http://schemas.openxmlformats.org/drawingml/2006/main">
              <a:ext uri="{FF2B5EF4-FFF2-40B4-BE49-F238E27FC236}">
                <a16:creationId xmlns:a16="http://schemas.microsoft.com/office/drawing/2014/main" id="{EB5F71D2-5EA8-424E-83C2-442A8CDCC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6334125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45°</a:t>
            </a:r>
          </a:p>
        </p:txBody>
      </p:sp>
      <p:sp>
        <p:nvSpPr>
          <p:cNvPr id="200" name="HWP-1085">
            <a:extLst xmlns:a="http://schemas.openxmlformats.org/drawingml/2006/main">
              <a:ext uri="{FF2B5EF4-FFF2-40B4-BE49-F238E27FC236}">
                <a16:creationId xmlns:a16="http://schemas.microsoft.com/office/drawing/2014/main" id="{F94FE9D6-601E-44DE-8C9B-636140FF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76750"/>
            <a:ext cx="1333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5"/>
          </a:solidFill>
          <a:ln xmlns:a="http://schemas.openxmlformats.org/drawingml/2006/main" w="17145">
            <a:solidFill>
              <a:srgbClr val="2F343D"/>
            </a:solidFill>
            <a:prstDash val="solid"/>
          </a:ln>
        </p:spPr>
      </p:sp>
      <p:sp>
        <p:nvSpPr>
          <p:cNvPr id="201" name="label-1086">
            <a:extLst xmlns:a="http://schemas.openxmlformats.org/drawingml/2006/main">
              <a:ext uri="{FF2B5EF4-FFF2-40B4-BE49-F238E27FC236}">
                <a16:creationId xmlns:a16="http://schemas.microsoft.com/office/drawing/2014/main" id="{2B5E1FDE-35E4-4338-BBB9-9BA8ED1B5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388620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HWPᵣ</a:t>
            </a:r>
          </a:p>
        </p:txBody>
      </p:sp>
      <p:sp>
        <p:nvSpPr>
          <p:cNvPr id="202" name="label-1087">
            <a:extLst xmlns:a="http://schemas.openxmlformats.org/drawingml/2006/main">
              <a:ext uri="{FF2B5EF4-FFF2-40B4-BE49-F238E27FC236}">
                <a16:creationId xmlns:a16="http://schemas.microsoft.com/office/drawing/2014/main" id="{93B947C1-8030-4D91-B714-D93B3F23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4152900"/>
            <a:ext cx="571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45°</a:t>
            </a:r>
          </a:p>
        </p:txBody>
      </p:sp>
      <p:sp>
        <p:nvSpPr>
          <p:cNvPr id="203" name="label-1088">
            <a:extLst xmlns:a="http://schemas.openxmlformats.org/drawingml/2006/main">
              <a:ext uri="{FF2B5EF4-FFF2-40B4-BE49-F238E27FC236}">
                <a16:creationId xmlns:a16="http://schemas.microsoft.com/office/drawing/2014/main" id="{5A7DCEBC-6387-4632-8BDB-218D302B7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593407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04" name="label-1089">
            <a:extLst xmlns:a="http://schemas.openxmlformats.org/drawingml/2006/main">
              <a:ext uri="{FF2B5EF4-FFF2-40B4-BE49-F238E27FC236}">
                <a16:creationId xmlns:a16="http://schemas.microsoft.com/office/drawing/2014/main" id="{0337656A-E048-48DF-9E5A-1B73EF6BA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762625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rPr>
              <a:t>H</a:t>
            </a:r>
          </a:p>
        </p:txBody>
      </p:sp>
      <p:sp>
        <p:nvSpPr>
          <p:cNvPr id="205" name="label-1090">
            <a:extLst xmlns:a="http://schemas.openxmlformats.org/drawingml/2006/main">
              <a:ext uri="{FF2B5EF4-FFF2-40B4-BE49-F238E27FC236}">
                <a16:creationId xmlns:a16="http://schemas.microsoft.com/office/drawing/2014/main" id="{B9C1336F-AD79-4DAB-995D-1B6AED86F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276725"/>
            <a:ext cx="304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rPr>
              <a:t>V</a:t>
            </a:r>
          </a:p>
        </p:txBody>
      </p:sp>
      <p:sp>
        <p:nvSpPr>
          <p:cNvPr id="206" name="lens-1091">
            <a:extLst xmlns:a="http://schemas.openxmlformats.org/drawingml/2006/main">
              <a:ext uri="{FF2B5EF4-FFF2-40B4-BE49-F238E27FC236}">
                <a16:creationId xmlns:a16="http://schemas.microsoft.com/office/drawing/2014/main" id="{AF4E70FD-C1FF-4B3A-BDA7-B1442395D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628900"/>
            <a:ext cx="2857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8EE"/>
          </a:solidFill>
          <a:ln xmlns:a="http://schemas.openxmlformats.org/drawingml/2006/main" w="20003">
            <a:solidFill>
              <a:srgbClr val="32889B"/>
            </a:solidFill>
          </a:ln>
        </p:spPr>
      </p:sp>
      <p:sp>
        <p:nvSpPr>
          <p:cNvPr id="207" name="label-1092">
            <a:extLst xmlns:a="http://schemas.openxmlformats.org/drawingml/2006/main">
              <a:ext uri="{FF2B5EF4-FFF2-40B4-BE49-F238E27FC236}">
                <a16:creationId xmlns:a16="http://schemas.microsoft.com/office/drawing/2014/main" id="{6DBB01C8-E4BB-4365-B43F-6425E6E6B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209800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L₃</a:t>
            </a:r>
          </a:p>
        </p:txBody>
      </p:sp>
      <p:sp>
        <p:nvSpPr>
          <p:cNvPr id="208" name="lens-1093">
            <a:extLst xmlns:a="http://schemas.openxmlformats.org/drawingml/2006/main">
              <a:ext uri="{FF2B5EF4-FFF2-40B4-BE49-F238E27FC236}">
                <a16:creationId xmlns:a16="http://schemas.microsoft.com/office/drawing/2014/main" id="{19ACDC6A-1CE9-465C-B5BD-0A0499197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391025"/>
            <a:ext cx="2857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8EE"/>
          </a:solidFill>
          <a:ln xmlns:a="http://schemas.openxmlformats.org/drawingml/2006/main" w="20003">
            <a:solidFill>
              <a:srgbClr val="32889B"/>
            </a:solidFill>
          </a:ln>
        </p:spPr>
      </p:sp>
      <p:sp>
        <p:nvSpPr>
          <p:cNvPr id="209" name="label-1094">
            <a:extLst xmlns:a="http://schemas.openxmlformats.org/drawingml/2006/main">
              <a:ext uri="{FF2B5EF4-FFF2-40B4-BE49-F238E27FC236}">
                <a16:creationId xmlns:a16="http://schemas.microsoft.com/office/drawing/2014/main" id="{16436FEB-03C3-4099-8FC6-9EBD0914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114925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L₅</a:t>
            </a:r>
          </a:p>
        </p:txBody>
      </p:sp>
      <p:sp>
        <p:nvSpPr>
          <p:cNvPr id="210" name="aperture-1095">
            <a:extLst xmlns:a="http://schemas.openxmlformats.org/drawingml/2006/main">
              <a:ext uri="{FF2B5EF4-FFF2-40B4-BE49-F238E27FC236}">
                <a16:creationId xmlns:a16="http://schemas.microsoft.com/office/drawing/2014/main" id="{52613B02-0CA6-46F4-9B1A-30B4E0CE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2857500"/>
            <a:ext cx="7239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2F343D"/>
            </a:solidFill>
          </a:ln>
        </p:spPr>
      </p:sp>
      <p:sp>
        <p:nvSpPr>
          <p:cNvPr id="211" name="aperture-hole-1096">
            <a:extLst xmlns:a="http://schemas.openxmlformats.org/drawingml/2006/main">
              <a:ext uri="{FF2B5EF4-FFF2-40B4-BE49-F238E27FC236}">
                <a16:creationId xmlns:a16="http://schemas.microsoft.com/office/drawing/2014/main" id="{FDD0AD93-235A-4680-8F31-7F1A474BD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962275"/>
            <a:ext cx="1524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43D"/>
          </a:solidFill>
          <a:ln xmlns:a="http://schemas.openxmlformats.org/drawingml/2006/main" w="0">
            <a:noFill/>
          </a:ln>
        </p:spPr>
      </p:sp>
      <p:sp>
        <p:nvSpPr>
          <p:cNvPr id="212" name="label-1097">
            <a:extLst xmlns:a="http://schemas.openxmlformats.org/drawingml/2006/main">
              <a:ext uri="{FF2B5EF4-FFF2-40B4-BE49-F238E27FC236}">
                <a16:creationId xmlns:a16="http://schemas.microsoft.com/office/drawing/2014/main" id="{C591B793-FC6C-4023-B178-06B207BB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476500"/>
            <a:ext cx="1123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F₊: +1</a:t>
            </a:r>
          </a:p>
        </p:txBody>
      </p:sp>
      <p:sp>
        <p:nvSpPr>
          <p:cNvPr id="213" name="aperture-1098">
            <a:extLst xmlns:a="http://schemas.openxmlformats.org/drawingml/2006/main">
              <a:ext uri="{FF2B5EF4-FFF2-40B4-BE49-F238E27FC236}">
                <a16:creationId xmlns:a16="http://schemas.microsoft.com/office/drawing/2014/main" id="{EA1D2C21-2552-4212-9BFA-8B48E601E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619625"/>
            <a:ext cx="723900" cy="28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AFBFC"/>
          </a:solidFill>
          <a:ln xmlns:a="http://schemas.openxmlformats.org/drawingml/2006/main" w="19050">
            <a:solidFill>
              <a:srgbClr val="2F343D"/>
            </a:solidFill>
          </a:ln>
        </p:spPr>
      </p:sp>
      <p:sp>
        <p:nvSpPr>
          <p:cNvPr id="214" name="aperture-hole-1099">
            <a:extLst xmlns:a="http://schemas.openxmlformats.org/drawingml/2006/main">
              <a:ext uri="{FF2B5EF4-FFF2-40B4-BE49-F238E27FC236}">
                <a16:creationId xmlns:a16="http://schemas.microsoft.com/office/drawing/2014/main" id="{64661222-53C3-4025-894E-D1BE1C31C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4724400"/>
            <a:ext cx="15240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43D"/>
          </a:solidFill>
          <a:ln xmlns:a="http://schemas.openxmlformats.org/drawingml/2006/main" w="0">
            <a:noFill/>
          </a:ln>
        </p:spPr>
      </p:sp>
      <p:sp>
        <p:nvSpPr>
          <p:cNvPr id="215" name="label-1100">
            <a:extLst xmlns:a="http://schemas.openxmlformats.org/drawingml/2006/main">
              <a:ext uri="{FF2B5EF4-FFF2-40B4-BE49-F238E27FC236}">
                <a16:creationId xmlns:a16="http://schemas.microsoft.com/office/drawing/2014/main" id="{E3DC5E43-A180-48BB-B1E7-63C2725D8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124450"/>
            <a:ext cx="11239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F₋: +1</a:t>
            </a:r>
          </a:p>
        </p:txBody>
      </p:sp>
      <p:sp>
        <p:nvSpPr>
          <p:cNvPr id="216" name="lens-1101">
            <a:extLst xmlns:a="http://schemas.openxmlformats.org/drawingml/2006/main">
              <a:ext uri="{FF2B5EF4-FFF2-40B4-BE49-F238E27FC236}">
                <a16:creationId xmlns:a16="http://schemas.microsoft.com/office/drawing/2014/main" id="{2EB153B3-27E9-4ABE-924A-1F4C6FB44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2628900"/>
            <a:ext cx="2857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8EE"/>
          </a:solidFill>
          <a:ln xmlns:a="http://schemas.openxmlformats.org/drawingml/2006/main" w="20003">
            <a:solidFill>
              <a:srgbClr val="32889B"/>
            </a:solidFill>
          </a:ln>
        </p:spPr>
      </p:sp>
      <p:sp>
        <p:nvSpPr>
          <p:cNvPr id="217" name="label-1102">
            <a:extLst xmlns:a="http://schemas.openxmlformats.org/drawingml/2006/main">
              <a:ext uri="{FF2B5EF4-FFF2-40B4-BE49-F238E27FC236}">
                <a16:creationId xmlns:a16="http://schemas.microsoft.com/office/drawing/2014/main" id="{871F5669-B048-49B7-8023-95CF7F8BE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209800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L₄</a:t>
            </a:r>
          </a:p>
        </p:txBody>
      </p:sp>
      <p:sp>
        <p:nvSpPr>
          <p:cNvPr id="218" name="lens-1103">
            <a:extLst xmlns:a="http://schemas.openxmlformats.org/drawingml/2006/main">
              <a:ext uri="{FF2B5EF4-FFF2-40B4-BE49-F238E27FC236}">
                <a16:creationId xmlns:a16="http://schemas.microsoft.com/office/drawing/2014/main" id="{CF4F4175-1FB2-42C5-AE93-67F6DE18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01375" y="4391025"/>
            <a:ext cx="2857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8EE"/>
          </a:solidFill>
          <a:ln xmlns:a="http://schemas.openxmlformats.org/drawingml/2006/main" w="20003">
            <a:solidFill>
              <a:srgbClr val="32889B"/>
            </a:solidFill>
          </a:ln>
        </p:spPr>
      </p:sp>
      <p:sp>
        <p:nvSpPr>
          <p:cNvPr id="219" name="label-1104">
            <a:extLst xmlns:a="http://schemas.openxmlformats.org/drawingml/2006/main">
              <a:ext uri="{FF2B5EF4-FFF2-40B4-BE49-F238E27FC236}">
                <a16:creationId xmlns:a16="http://schemas.microsoft.com/office/drawing/2014/main" id="{ED6CDAA8-144F-4F04-AE71-2CE25764E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5114925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L₆</a:t>
            </a:r>
          </a:p>
        </p:txBody>
      </p:sp>
      <p:sp>
        <p:nvSpPr>
          <p:cNvPr id="220" name="ray-matched-mirror-1105">
            <a:extLst xmlns:a="http://schemas.openxmlformats.org/drawingml/2006/main">
              <a:ext uri="{FF2B5EF4-FFF2-40B4-BE49-F238E27FC236}">
                <a16:creationId xmlns:a16="http://schemas.microsoft.com/office/drawing/2014/main" id="{D08CD6CA-A415-4FD2-8FB3-C7A5B7071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3030" y="2849423"/>
            <a:ext cx="657940" cy="30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2525"/>
            </a:solidFill>
            <a:prstDash val="solid"/>
          </a:ln>
        </p:spPr>
      </p:sp>
      <p:sp>
        <p:nvSpPr>
          <p:cNvPr id="221" name="mirror-highlight-1106">
            <a:extLst xmlns:a="http://schemas.openxmlformats.org/drawingml/2006/main">
              <a:ext uri="{FF2B5EF4-FFF2-40B4-BE49-F238E27FC236}">
                <a16:creationId xmlns:a16="http://schemas.microsoft.com/office/drawing/2014/main" id="{709B5EB1-8382-4D63-AB56-2DE50334B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1863030" y="2849423"/>
            <a:ext cx="657940" cy="30190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2917D"/>
            </a:solidFill>
            <a:prstDash val="solid"/>
          </a:ln>
        </p:spPr>
      </p:sp>
      <p:sp>
        <p:nvSpPr>
          <p:cNvPr id="222" name="label-1107">
            <a:extLst xmlns:a="http://schemas.openxmlformats.org/drawingml/2006/main">
              <a:ext uri="{FF2B5EF4-FFF2-40B4-BE49-F238E27FC236}">
                <a16:creationId xmlns:a16="http://schemas.microsoft.com/office/drawing/2014/main" id="{9266C8FB-E787-4EA4-89B8-9351EEDDA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2409825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M₃</a:t>
            </a:r>
          </a:p>
        </p:txBody>
      </p:sp>
      <p:sp>
        <p:nvSpPr>
          <p:cNvPr id="223" name="ray-matched-mirror-1108">
            <a:extLst xmlns:a="http://schemas.openxmlformats.org/drawingml/2006/main">
              <a:ext uri="{FF2B5EF4-FFF2-40B4-BE49-F238E27FC236}">
                <a16:creationId xmlns:a16="http://schemas.microsoft.com/office/drawing/2014/main" id="{61C54D40-AB03-424B-8CCC-4DB54CB4B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62628" y="4612428"/>
            <a:ext cx="658745" cy="3001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B82525"/>
            </a:solidFill>
            <a:prstDash val="solid"/>
          </a:ln>
        </p:spPr>
      </p:sp>
      <p:sp>
        <p:nvSpPr>
          <p:cNvPr id="224" name="mirror-highlight-1109">
            <a:extLst xmlns:a="http://schemas.openxmlformats.org/drawingml/2006/main">
              <a:ext uri="{FF2B5EF4-FFF2-40B4-BE49-F238E27FC236}">
                <a16:creationId xmlns:a16="http://schemas.microsoft.com/office/drawing/2014/main" id="{A0F987F8-DF04-48BA-85AE-443ACBB8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1862628" y="4612428"/>
            <a:ext cx="658745" cy="3001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2383">
            <a:solidFill>
              <a:srgbClr val="F2917D"/>
            </a:solidFill>
            <a:prstDash val="solid"/>
          </a:ln>
        </p:spPr>
      </p:sp>
      <p:sp>
        <p:nvSpPr>
          <p:cNvPr id="225" name="label-1110">
            <a:extLst xmlns:a="http://schemas.openxmlformats.org/drawingml/2006/main">
              <a:ext uri="{FF2B5EF4-FFF2-40B4-BE49-F238E27FC236}">
                <a16:creationId xmlns:a16="http://schemas.microsoft.com/office/drawing/2014/main" id="{E51FDA88-38F4-4A87-B010-38D76834F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3375" y="5124450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M₄</a:t>
            </a:r>
          </a:p>
        </p:txBody>
      </p:sp>
      <p:sp>
        <p:nvSpPr>
          <p:cNvPr id="226" name="PBS-1111">
            <a:extLst xmlns:a="http://schemas.openxmlformats.org/drawingml/2006/main">
              <a:ext uri="{FF2B5EF4-FFF2-40B4-BE49-F238E27FC236}">
                <a16:creationId xmlns:a16="http://schemas.microsoft.com/office/drawing/2014/main" id="{F2EA59E9-92BB-4775-87B9-184F59D76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1575" y="3695700"/>
            <a:ext cx="7048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F3">
              <a:alpha val="72000"/>
            </a:srgbClr>
          </a:solidFill>
          <a:ln xmlns:a="http://schemas.openxmlformats.org/drawingml/2006/main" w="19050">
            <a:solidFill>
              <a:srgbClr val="5F9AAC"/>
            </a:solidFill>
            <a:prstDash val="solid"/>
          </a:ln>
        </p:spPr>
      </p:sp>
      <p:sp>
        <p:nvSpPr>
          <p:cNvPr id="227" name="PBS-diagonal-1112">
            <a:extLst xmlns:a="http://schemas.openxmlformats.org/drawingml/2006/main">
              <a:ext uri="{FF2B5EF4-FFF2-40B4-BE49-F238E27FC236}">
                <a16:creationId xmlns:a16="http://schemas.microsoft.com/office/drawing/2014/main" id="{6D471F79-BE81-4A4B-B673-BE22B481F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2601575" y="3695700"/>
            <a:ext cx="704850" cy="381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A6B6"/>
            </a:solidFill>
            <a:prstDash val="solid"/>
          </a:ln>
        </p:spPr>
      </p:sp>
      <p:sp>
        <p:nvSpPr>
          <p:cNvPr id="228" name="label-1113">
            <a:extLst xmlns:a="http://schemas.openxmlformats.org/drawingml/2006/main">
              <a:ext uri="{FF2B5EF4-FFF2-40B4-BE49-F238E27FC236}">
                <a16:creationId xmlns:a16="http://schemas.microsoft.com/office/drawing/2014/main" id="{42283357-1A78-44D0-8BDF-237D4047D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0" y="441007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PBS₂</a:t>
            </a:r>
          </a:p>
        </p:txBody>
      </p:sp>
      <p:sp>
        <p:nvSpPr>
          <p:cNvPr id="229" name="preparation-QWP-1114">
            <a:extLst xmlns:a="http://schemas.openxmlformats.org/drawingml/2006/main">
              <a:ext uri="{FF2B5EF4-FFF2-40B4-BE49-F238E27FC236}">
                <a16:creationId xmlns:a16="http://schemas.microsoft.com/office/drawing/2014/main" id="{BA5C70D0-109A-443F-A020-3884A1126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11225" y="3581400"/>
            <a:ext cx="1333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5"/>
          </a:solidFill>
          <a:ln xmlns:a="http://schemas.openxmlformats.org/drawingml/2006/main" w="19050">
            <a:solidFill>
              <a:srgbClr val="2F343D"/>
            </a:solidFill>
            <a:prstDash val="solid"/>
          </a:ln>
        </p:spPr>
      </p:sp>
      <p:sp>
        <p:nvSpPr>
          <p:cNvPr id="230" name="label-1115">
            <a:extLst xmlns:a="http://schemas.openxmlformats.org/drawingml/2006/main">
              <a:ext uri="{FF2B5EF4-FFF2-40B4-BE49-F238E27FC236}">
                <a16:creationId xmlns:a16="http://schemas.microsoft.com/office/drawing/2014/main" id="{A0D5C5C8-D8CA-4A35-8106-3EBF548AB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0" y="4391025"/>
            <a:ext cx="723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QWP</a:t>
            </a:r>
          </a:p>
        </p:txBody>
      </p:sp>
      <p:sp>
        <p:nvSpPr>
          <p:cNvPr id="231" name="label-1116">
            <a:extLst xmlns:a="http://schemas.openxmlformats.org/drawingml/2006/main">
              <a:ext uri="{FF2B5EF4-FFF2-40B4-BE49-F238E27FC236}">
                <a16:creationId xmlns:a16="http://schemas.microsoft.com/office/drawing/2014/main" id="{BC96C6D1-5797-4C5C-99CB-DDAC15E7C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63525" y="4762500"/>
            <a:ext cx="142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slow axis 45°</a:t>
            </a:r>
          </a:p>
        </p:txBody>
      </p:sp>
      <p:sp>
        <p:nvSpPr>
          <p:cNvPr id="232" name="formula-1117">
            <a:extLst xmlns:a="http://schemas.openxmlformats.org/drawingml/2006/main">
              <a:ext uri="{FF2B5EF4-FFF2-40B4-BE49-F238E27FC236}">
                <a16:creationId xmlns:a16="http://schemas.microsoft.com/office/drawing/2014/main" id="{B9AD9955-B3AD-41E5-BC64-C64B286D9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2214" y="3400425"/>
            <a:ext cx="10468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1">
                <a:solidFill>
                  <a:srgbClr val="0588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0588CC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233" name="formula-1118">
            <a:extLst xmlns:a="http://schemas.openxmlformats.org/drawingml/2006/main">
              <a:ext uri="{FF2B5EF4-FFF2-40B4-BE49-F238E27FC236}">
                <a16:creationId xmlns:a16="http://schemas.microsoft.com/office/drawing/2014/main" id="{0CB6D7A8-EBAD-4ADB-BC0A-7F7DD9E0D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7844" y="3490436"/>
            <a:ext cx="148971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18" b="1" i="0">
                <a:solidFill>
                  <a:srgbClr val="0588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8" b="1" i="0">
                <a:solidFill>
                  <a:srgbClr val="0588CC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34" name="formula-1119">
            <a:extLst xmlns:a="http://schemas.openxmlformats.org/drawingml/2006/main">
              <a:ext uri="{FF2B5EF4-FFF2-40B4-BE49-F238E27FC236}">
                <a16:creationId xmlns:a16="http://schemas.microsoft.com/office/drawing/2014/main" id="{2D5D0C8C-BE73-4178-97C0-5457628D0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7765" y="3400425"/>
            <a:ext cx="1903571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1">
                <a:solidFill>
                  <a:srgbClr val="0588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0588CC"/>
                </a:solidFill>
                <a:latin typeface="Times New Roman"/>
                <a:ea typeface="Times New Roman"/>
                <a:cs typeface="Times New Roman"/>
              </a:rPr>
              <a:t>(r) exp[i(m − 1)φ]</a:t>
            </a:r>
          </a:p>
        </p:txBody>
      </p:sp>
      <p:sp>
        <p:nvSpPr>
          <p:cNvPr id="235" name="formula-1120">
            <a:extLst xmlns:a="http://schemas.openxmlformats.org/drawingml/2006/main">
              <a:ext uri="{FF2B5EF4-FFF2-40B4-BE49-F238E27FC236}">
                <a16:creationId xmlns:a16="http://schemas.microsoft.com/office/drawing/2014/main" id="{C9573B4B-8853-40CA-AAAC-07DE26018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6881" y="5734050"/>
            <a:ext cx="10468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1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rPr>
              <a:t>f</a:t>
            </a:r>
          </a:p>
        </p:txBody>
      </p:sp>
      <p:sp>
        <p:nvSpPr>
          <p:cNvPr id="236" name="formula-1121">
            <a:extLst xmlns:a="http://schemas.openxmlformats.org/drawingml/2006/main">
              <a:ext uri="{FF2B5EF4-FFF2-40B4-BE49-F238E27FC236}">
                <a16:creationId xmlns:a16="http://schemas.microsoft.com/office/drawing/2014/main" id="{A2B3BB88-FFDB-4BF6-98BB-ECF89450F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2511" y="5824061"/>
            <a:ext cx="148971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18" b="1" i="0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418" b="1" i="0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rPr>
              <a:t>A</a:t>
            </a:r>
          </a:p>
        </p:txBody>
      </p:sp>
      <p:sp>
        <p:nvSpPr>
          <p:cNvPr id="237" name="formula-1122">
            <a:extLst xmlns:a="http://schemas.openxmlformats.org/drawingml/2006/main">
              <a:ext uri="{FF2B5EF4-FFF2-40B4-BE49-F238E27FC236}">
                <a16:creationId xmlns:a16="http://schemas.microsoft.com/office/drawing/2014/main" id="{8605F69D-FFED-4522-A407-4717C24D8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2432" y="5734050"/>
            <a:ext cx="1894237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1" i="1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2025" b="1" i="1">
                <a:solidFill>
                  <a:srgbClr val="E86B00"/>
                </a:solidFill>
                <a:latin typeface="Times New Roman"/>
                <a:ea typeface="Times New Roman"/>
                <a:cs typeface="Times New Roman"/>
              </a:rPr>
              <a:t>(r) exp[i(m + 1)φ]</a:t>
            </a:r>
          </a:p>
        </p:txBody>
      </p:sp>
      <p:sp>
        <p:nvSpPr>
          <p:cNvPr id="238" name="beam-envelope-1123">
            <a:extLst xmlns:a="http://schemas.openxmlformats.org/drawingml/2006/main">
              <a:ext uri="{FF2B5EF4-FFF2-40B4-BE49-F238E27FC236}">
                <a16:creationId xmlns:a16="http://schemas.microsoft.com/office/drawing/2014/main" id="{B77ECA6A-530F-4564-8277-C2A6B65C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87500" y="1781175"/>
            <a:ext cx="476" cy="2105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5260">
            <a:solidFill>
              <a:srgbClr val="7548A5">
                <a:alpha val="13000"/>
              </a:srgbClr>
            </a:solidFill>
            <a:prstDash val="solid"/>
          </a:ln>
        </p:spPr>
      </p:sp>
      <p:sp>
        <p:nvSpPr>
          <p:cNvPr id="239" name="beam-1124">
            <a:extLst xmlns:a="http://schemas.openxmlformats.org/drawingml/2006/main">
              <a:ext uri="{FF2B5EF4-FFF2-40B4-BE49-F238E27FC236}">
                <a16:creationId xmlns:a16="http://schemas.microsoft.com/office/drawing/2014/main" id="{7A72D00B-17A9-4BB1-B48A-85F95151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87500" y="1781175"/>
            <a:ext cx="476" cy="21050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7548A5"/>
            </a:solidFill>
            <a:prstDash val="solid"/>
          </a:ln>
        </p:spPr>
      </p:sp>
      <p:sp>
        <p:nvSpPr>
          <p:cNvPr id="240" name="beam-envelope-1125">
            <a:extLst xmlns:a="http://schemas.openxmlformats.org/drawingml/2006/main">
              <a:ext uri="{FF2B5EF4-FFF2-40B4-BE49-F238E27FC236}">
                <a16:creationId xmlns:a16="http://schemas.microsoft.com/office/drawing/2014/main" id="{BB4C0E19-9949-4770-8DA0-BDB326295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944600" y="1781175"/>
            <a:ext cx="34290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75260">
            <a:solidFill>
              <a:srgbClr val="7548A5">
                <a:alpha val="13000"/>
              </a:srgbClr>
            </a:solidFill>
            <a:prstDash val="solid"/>
          </a:ln>
        </p:spPr>
      </p:sp>
      <p:sp>
        <p:nvSpPr>
          <p:cNvPr id="241" name="beam-1126">
            <a:extLst xmlns:a="http://schemas.openxmlformats.org/drawingml/2006/main">
              <a:ext uri="{FF2B5EF4-FFF2-40B4-BE49-F238E27FC236}">
                <a16:creationId xmlns:a16="http://schemas.microsoft.com/office/drawing/2014/main" id="{F37B2AF4-8DFE-4F8F-9ABE-D57FB8D0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3944600" y="1781175"/>
            <a:ext cx="34290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7548A5"/>
            </a:solidFill>
            <a:prstDash val="solid"/>
          </a:ln>
        </p:spPr>
      </p:sp>
      <p:sp>
        <p:nvSpPr>
          <p:cNvPr id="242" name="arrow-1127">
            <a:extLst xmlns:a="http://schemas.openxmlformats.org/drawingml/2006/main">
              <a:ext uri="{FF2B5EF4-FFF2-40B4-BE49-F238E27FC236}">
                <a16:creationId xmlns:a16="http://schemas.microsoft.com/office/drawing/2014/main" id="{39962897-9FD4-4A9C-A36C-2B25766F0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287500" y="2800350"/>
            <a:ext cx="476" cy="2952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7548A5"/>
            </a:solidFill>
            <a:prstDash val="solid"/>
          </a:ln>
        </p:spPr>
      </p:sp>
      <p:sp>
        <p:nvSpPr>
          <p:cNvPr id="243" name="arrow-head-1128">
            <a:extLst xmlns:a="http://schemas.openxmlformats.org/drawingml/2006/main">
              <a:ext uri="{FF2B5EF4-FFF2-40B4-BE49-F238E27FC236}">
                <a16:creationId xmlns:a16="http://schemas.microsoft.com/office/drawing/2014/main" id="{D523BF30-4300-46FC-9107-64E6374FC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4734" y="2800350"/>
            <a:ext cx="65532" cy="76200"/>
          </a:xfrm>
          <a:custGeom xmlns:a="http://schemas.openxmlformats.org/drawingml/2006/main">
            <a:pathLst>
              <a:path w="65532" h="76200">
                <a:moveTo>
                  <a:pt x="32766" y="0"/>
                </a:moveTo>
                <a:lnTo>
                  <a:pt x="65532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7548A5"/>
          </a:solidFill>
          <a:ln xmlns:a="http://schemas.openxmlformats.org/drawingml/2006/main" w="0">
            <a:noFill/>
          </a:ln>
        </p:spPr>
      </p:sp>
      <p:sp>
        <p:nvSpPr>
          <p:cNvPr id="244" name="arrow-1129">
            <a:extLst xmlns:a="http://schemas.openxmlformats.org/drawingml/2006/main">
              <a:ext uri="{FF2B5EF4-FFF2-40B4-BE49-F238E27FC236}">
                <a16:creationId xmlns:a16="http://schemas.microsoft.com/office/drawing/2014/main" id="{39C5EDC4-B33C-44E3-A149-655647860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14077950" y="1781175"/>
            <a:ext cx="18097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860">
            <a:solidFill>
              <a:srgbClr val="7548A5"/>
            </a:solidFill>
            <a:prstDash val="solid"/>
          </a:ln>
        </p:spPr>
      </p:sp>
      <p:sp>
        <p:nvSpPr>
          <p:cNvPr id="245" name="arrow-head-1130">
            <a:extLst xmlns:a="http://schemas.openxmlformats.org/drawingml/2006/main">
              <a:ext uri="{FF2B5EF4-FFF2-40B4-BE49-F238E27FC236}">
                <a16:creationId xmlns:a16="http://schemas.microsoft.com/office/drawing/2014/main" id="{0AFC95C9-F27A-4FE6-945D-69633EE19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77950" y="1748409"/>
            <a:ext cx="76200" cy="65532"/>
          </a:xfrm>
          <a:custGeom xmlns:a="http://schemas.openxmlformats.org/drawingml/2006/main">
            <a:pathLst>
              <a:path w="76200" h="65532">
                <a:moveTo>
                  <a:pt x="0" y="32766"/>
                </a:moveTo>
                <a:lnTo>
                  <a:pt x="76200" y="0"/>
                </a:lnTo>
                <a:lnTo>
                  <a:pt x="76200" y="65532"/>
                </a:lnTo>
                <a:close/>
              </a:path>
            </a:pathLst>
          </a:custGeom>
          <a:solidFill xmlns:a="http://schemas.openxmlformats.org/drawingml/2006/main">
            <a:srgbClr val="7548A5"/>
          </a:solidFill>
          <a:ln xmlns:a="http://schemas.openxmlformats.org/drawingml/2006/main" w="0">
            <a:noFill/>
          </a:ln>
        </p:spPr>
      </p:sp>
      <p:sp>
        <p:nvSpPr>
          <p:cNvPr id="246" name="output-pickoff-1131">
            <a:extLst xmlns:a="http://schemas.openxmlformats.org/drawingml/2006/main">
              <a:ext uri="{FF2B5EF4-FFF2-40B4-BE49-F238E27FC236}">
                <a16:creationId xmlns:a16="http://schemas.microsoft.com/office/drawing/2014/main" id="{E5452847-D9E5-4B60-8E4E-67849D946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3733800"/>
            <a:ext cx="2667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E7EF">
              <a:alpha val="82000"/>
            </a:srgbClr>
          </a:solidFill>
          <a:ln xmlns:a="http://schemas.openxmlformats.org/drawingml/2006/main" w="16193">
            <a:solidFill>
              <a:srgbClr val="5F9AAC"/>
            </a:solidFill>
            <a:prstDash val="solid"/>
          </a:ln>
        </p:spPr>
      </p:sp>
      <p:sp>
        <p:nvSpPr>
          <p:cNvPr id="247" name="line-1132">
            <a:extLst xmlns:a="http://schemas.openxmlformats.org/drawingml/2006/main">
              <a:ext uri="{FF2B5EF4-FFF2-40B4-BE49-F238E27FC236}">
                <a16:creationId xmlns:a16="http://schemas.microsoft.com/office/drawing/2014/main" id="{816D7ACE-D211-427C-A80E-9310FA221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154150" y="3733800"/>
            <a:ext cx="266700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70A6B6"/>
            </a:solidFill>
            <a:prstDash val="solid"/>
          </a:ln>
        </p:spPr>
      </p:sp>
      <p:sp>
        <p:nvSpPr>
          <p:cNvPr id="248" name="label-1133">
            <a:extLst xmlns:a="http://schemas.openxmlformats.org/drawingml/2006/main">
              <a:ext uri="{FF2B5EF4-FFF2-40B4-BE49-F238E27FC236}">
                <a16:creationId xmlns:a16="http://schemas.microsoft.com/office/drawing/2014/main" id="{600D8100-4EBE-428D-BB63-15952691B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20800" y="4295775"/>
            <a:ext cx="5810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BS꜀</a:t>
            </a:r>
          </a:p>
        </p:txBody>
      </p:sp>
      <p:sp>
        <p:nvSpPr>
          <p:cNvPr id="249" name="label-1134">
            <a:extLst xmlns:a="http://schemas.openxmlformats.org/drawingml/2006/main">
              <a:ext uri="{FF2B5EF4-FFF2-40B4-BE49-F238E27FC236}">
                <a16:creationId xmlns:a16="http://schemas.microsoft.com/office/drawing/2014/main" id="{C5E9AE5F-7BA9-4609-A729-860967EFB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39725" y="2657475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 i="0">
                <a:solidFill>
                  <a:srgbClr val="7548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00" b="1" i="0">
                <a:solidFill>
                  <a:srgbClr val="7548A5"/>
                </a:solidFill>
                <a:latin typeface="Times New Roman"/>
                <a:ea typeface="Times New Roman"/>
                <a:cs typeface="Times New Roman"/>
              </a:rPr>
              <a:t>weak sample</a:t>
            </a:r>
          </a:p>
        </p:txBody>
      </p:sp>
      <p:sp>
        <p:nvSpPr>
          <p:cNvPr id="250" name="output-certification-1135">
            <a:extLst xmlns:a="http://schemas.openxmlformats.org/drawingml/2006/main">
              <a:ext uri="{FF2B5EF4-FFF2-40B4-BE49-F238E27FC236}">
                <a16:creationId xmlns:a16="http://schemas.microsoft.com/office/drawing/2014/main" id="{5E160F57-861B-4F6B-BAFE-839789285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1038225"/>
            <a:ext cx="4057650" cy="1219200"/>
          </a:xfrm>
          <a:prstGeom xmlns:a="http://schemas.openxmlformats.org/drawingml/2006/main" prst="roundRect">
            <a:avLst>
              <a:gd name="adj" fmla="val 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7145">
            <a:solidFill>
              <a:srgbClr val="7D8086"/>
            </a:solidFill>
            <a:prstDash val="dash"/>
          </a:ln>
        </p:spPr>
      </p:sp>
      <p:sp>
        <p:nvSpPr>
          <p:cNvPr id="251" name="label-1136">
            <a:extLst xmlns:a="http://schemas.openxmlformats.org/drawingml/2006/main">
              <a:ext uri="{FF2B5EF4-FFF2-40B4-BE49-F238E27FC236}">
                <a16:creationId xmlns:a16="http://schemas.microsoft.com/office/drawing/2014/main" id="{11D179FB-54BC-4C79-8708-DD91FDEF7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047750"/>
            <a:ext cx="36576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 i="0">
                <a:solidFill>
                  <a:srgbClr val="0588CC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0588CC"/>
                </a:solidFill>
                <a:latin typeface="Times New Roman"/>
                <a:ea typeface="Times New Roman"/>
                <a:cs typeface="Times New Roman"/>
              </a:rPr>
              <a:t>output certification</a:t>
            </a:r>
          </a:p>
        </p:txBody>
      </p:sp>
      <p:sp>
        <p:nvSpPr>
          <p:cNvPr id="252" name="label-1137">
            <a:extLst xmlns:a="http://schemas.openxmlformats.org/drawingml/2006/main">
              <a:ext uri="{FF2B5EF4-FFF2-40B4-BE49-F238E27FC236}">
                <a16:creationId xmlns:a16="http://schemas.microsoft.com/office/drawing/2014/main" id="{EEF15D96-8279-4DF2-9B0E-5C0C3CF15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333500"/>
            <a:ext cx="3657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QWP + LP: full Stokes</a:t>
            </a:r>
          </a:p>
        </p:txBody>
      </p:sp>
      <p:sp>
        <p:nvSpPr>
          <p:cNvPr id="253" name="formula-1138">
            <a:extLst xmlns:a="http://schemas.openxmlformats.org/drawingml/2006/main">
              <a:ext uri="{FF2B5EF4-FFF2-40B4-BE49-F238E27FC236}">
                <a16:creationId xmlns:a16="http://schemas.microsoft.com/office/drawing/2014/main" id="{C4ABC577-4AC7-406B-BDBA-B9F131BEC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876425"/>
            <a:ext cx="232781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QWP + lens: spherical ref. </a:t>
            </a:r>
          </a:p>
        </p:txBody>
      </p:sp>
      <p:sp>
        <p:nvSpPr>
          <p:cNvPr id="254" name="formula-1139">
            <a:extLst xmlns:a="http://schemas.openxmlformats.org/drawingml/2006/main">
              <a:ext uri="{FF2B5EF4-FFF2-40B4-BE49-F238E27FC236}">
                <a16:creationId xmlns:a16="http://schemas.microsoft.com/office/drawing/2014/main" id="{44D2FC32-7639-48B1-8B6E-2EA205103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6215" y="1876425"/>
            <a:ext cx="123825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1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q</a:t>
            </a:r>
          </a:p>
        </p:txBody>
      </p:sp>
      <p:sp>
        <p:nvSpPr>
          <p:cNvPr id="255" name="formula-1140">
            <a:extLst xmlns:a="http://schemas.openxmlformats.org/drawingml/2006/main">
              <a:ext uri="{FF2B5EF4-FFF2-40B4-BE49-F238E27FC236}">
                <a16:creationId xmlns:a16="http://schemas.microsoft.com/office/drawing/2014/main" id="{60BD1CF4-0AB5-47FC-8A3A-ABB9AD2B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90990" y="1949768"/>
            <a:ext cx="99536" cy="22002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5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5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±</a:t>
            </a:r>
          </a:p>
        </p:txBody>
      </p:sp>
      <p:sp>
        <p:nvSpPr>
          <p:cNvPr id="256" name="label-1141">
            <a:extLst xmlns:a="http://schemas.openxmlformats.org/drawingml/2006/main">
              <a:ext uri="{FF2B5EF4-FFF2-40B4-BE49-F238E27FC236}">
                <a16:creationId xmlns:a16="http://schemas.microsoft.com/office/drawing/2014/main" id="{D964FDB9-7700-477A-9475-9E6AD7E7C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6850" y="5391150"/>
            <a:ext cx="179070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1" i="0">
                <a:solidFill>
                  <a:srgbClr val="7548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7548A5"/>
                </a:solidFill>
                <a:latin typeface="Times New Roman"/>
                <a:ea typeface="Times New Roman"/>
                <a:cs typeface="Times New Roman"/>
              </a:rPr>
              <a:t>orthogonal circular</a:t>
            </a:r>
          </a:p>
          <a:p xmlns:a="http://schemas.openxmlformats.org/drawingml/2006/main">
            <a:pPr algn="ctr">
              <a:buNone/>
              <a:defRPr sz="1725" b="1" i="0">
                <a:solidFill>
                  <a:srgbClr val="7548A5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725" b="1" i="0">
                <a:solidFill>
                  <a:srgbClr val="7548A5"/>
                </a:solidFill>
                <a:latin typeface="Times New Roman"/>
                <a:ea typeface="Times New Roman"/>
                <a:cs typeface="Times New Roman"/>
              </a:rPr>
              <a:t>channels</a:t>
            </a:r>
          </a:p>
        </p:txBody>
      </p:sp>
      <p:sp>
        <p:nvSpPr>
          <p:cNvPr id="257" name="label-1142">
            <a:extLst xmlns:a="http://schemas.openxmlformats.org/drawingml/2006/main">
              <a:ext uri="{FF2B5EF4-FFF2-40B4-BE49-F238E27FC236}">
                <a16:creationId xmlns:a16="http://schemas.microsoft.com/office/drawing/2014/main" id="{F7739ABA-FDC6-4824-B133-278AF0F7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44475" y="6153150"/>
            <a:ext cx="17335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rPr>
              <a:t>free propagation</a:t>
            </a:r>
          </a:p>
        </p:txBody>
      </p:sp>
      <p:sp>
        <p:nvSpPr>
          <p:cNvPr id="258" name="label-1143">
            <a:extLst xmlns:a="http://schemas.openxmlformats.org/drawingml/2006/main">
              <a:ext uri="{FF2B5EF4-FFF2-40B4-BE49-F238E27FC236}">
                <a16:creationId xmlns:a16="http://schemas.microsoft.com/office/drawing/2014/main" id="{D5CAFB1C-72CC-461D-AA1A-24D98257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6829425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Carrier holograms (blazed gratings); F± pass +1, reject zero and other orders.</a:t>
            </a:r>
          </a:p>
        </p:txBody>
      </p:sp>
      <p:sp>
        <p:nvSpPr>
          <p:cNvPr id="259" name="label-1144">
            <a:extLst xmlns:a="http://schemas.openxmlformats.org/drawingml/2006/main">
              <a:ext uri="{FF2B5EF4-FFF2-40B4-BE49-F238E27FC236}">
                <a16:creationId xmlns:a16="http://schemas.microsoft.com/office/drawing/2014/main" id="{16F99DF2-884B-4841-850E-21E11A374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162800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HWPᵢ / HWPᵣ align the SLM₋ input polarization and restore V before PBS₂.</a:t>
            </a:r>
          </a:p>
        </p:txBody>
      </p:sp>
      <p:sp>
        <p:nvSpPr>
          <p:cNvPr id="260" name="label-1145">
            <a:extLst xmlns:a="http://schemas.openxmlformats.org/drawingml/2006/main">
              <a:ext uri="{FF2B5EF4-FFF2-40B4-BE49-F238E27FC236}">
                <a16:creationId xmlns:a16="http://schemas.microsoft.com/office/drawing/2014/main" id="{63F5157A-153E-4AA3-84DC-39F1182D1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496175"/>
            <a:ext cx="11430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Required: coaxial alignment, envelope / power balance and differential wavefront calibration.</a:t>
            </a:r>
          </a:p>
        </p:txBody>
      </p:sp>
      <p:sp>
        <p:nvSpPr>
          <p:cNvPr id="261" name="formula-1146">
            <a:extLst xmlns:a="http://schemas.openxmlformats.org/drawingml/2006/main">
              <a:ext uri="{FF2B5EF4-FFF2-40B4-BE49-F238E27FC236}">
                <a16:creationId xmlns:a16="http://schemas.microsoft.com/office/drawing/2014/main" id="{5DD43162-EB0C-48FD-9598-D08EAA05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7858125"/>
            <a:ext cx="271557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rPr>
              <a:t>Uniform relative phase leaves </a:t>
            </a:r>
          </a:p>
        </p:txBody>
      </p:sp>
      <p:sp>
        <p:nvSpPr>
          <p:cNvPr id="262" name="formula-1147">
            <a:extLst xmlns:a="http://schemas.openxmlformats.org/drawingml/2006/main">
              <a:ext uri="{FF2B5EF4-FFF2-40B4-BE49-F238E27FC236}">
                <a16:creationId xmlns:a16="http://schemas.microsoft.com/office/drawing/2014/main" id="{54DEECB6-B5CA-4091-AA7F-EBEA92FB0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1853" y="7858125"/>
            <a:ext cx="100584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1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rPr>
              <a:t>I</a:t>
            </a:r>
          </a:p>
        </p:txBody>
      </p:sp>
      <p:sp>
        <p:nvSpPr>
          <p:cNvPr id="263" name="formula-1148">
            <a:extLst xmlns:a="http://schemas.openxmlformats.org/drawingml/2006/main">
              <a:ext uri="{FF2B5EF4-FFF2-40B4-BE49-F238E27FC236}">
                <a16:creationId xmlns:a16="http://schemas.microsoft.com/office/drawing/2014/main" id="{87877153-2C89-411B-B771-6DE142ECC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3387" y="7931468"/>
            <a:ext cx="99536" cy="220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55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5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rPr>
              <a:t>±</a:t>
            </a:r>
          </a:p>
        </p:txBody>
      </p:sp>
      <p:sp>
        <p:nvSpPr>
          <p:cNvPr id="264" name="formula-1149">
            <a:extLst xmlns:a="http://schemas.openxmlformats.org/drawingml/2006/main">
              <a:ext uri="{FF2B5EF4-FFF2-40B4-BE49-F238E27FC236}">
                <a16:creationId xmlns:a16="http://schemas.microsoft.com/office/drawing/2014/main" id="{DEEAB9A2-8A35-4500-8198-BC641B2B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873" y="7858125"/>
            <a:ext cx="461677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rPr>
              <a:t> and </a:t>
            </a:r>
          </a:p>
        </p:txBody>
      </p:sp>
      <p:sp>
        <p:nvSpPr>
          <p:cNvPr id="265" name="formula-1150">
            <a:extLst xmlns:a="http://schemas.openxmlformats.org/drawingml/2006/main">
              <a:ext uri="{FF2B5EF4-FFF2-40B4-BE49-F238E27FC236}">
                <a16:creationId xmlns:a16="http://schemas.microsoft.com/office/drawing/2014/main" id="{35C48E1C-A0DD-4AD9-BB0C-887A20A18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6500" y="7858125"/>
            <a:ext cx="135636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1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1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rPr>
              <a:t>S</a:t>
            </a:r>
          </a:p>
        </p:txBody>
      </p:sp>
      <p:sp>
        <p:nvSpPr>
          <p:cNvPr id="266" name="formula-1151">
            <a:extLst xmlns:a="http://schemas.openxmlformats.org/drawingml/2006/main">
              <a:ext uri="{FF2B5EF4-FFF2-40B4-BE49-F238E27FC236}">
                <a16:creationId xmlns:a16="http://schemas.microsoft.com/office/drawing/2014/main" id="{90FFB61C-FACE-4095-B714-2664398D5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3086" y="7931468"/>
            <a:ext cx="92392" cy="22002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55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155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267" name="formula-1152">
            <a:extLst xmlns:a="http://schemas.openxmlformats.org/drawingml/2006/main">
              <a:ext uri="{FF2B5EF4-FFF2-40B4-BE49-F238E27FC236}">
                <a16:creationId xmlns:a16="http://schemas.microsoft.com/office/drawing/2014/main" id="{6ADB3181-AAB4-49F2-A1BD-1A865C901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6428" y="7858125"/>
            <a:ext cx="1102138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650" b="1" i="0">
                <a:solidFill>
                  <a:srgbClr val="616773"/>
                </a:solidFill>
                <a:latin typeface="Times New Roman"/>
                <a:ea typeface="Times New Roman"/>
                <a:cs typeface="Times New Roman"/>
              </a:rPr>
              <a:t> unchanged.</a:t>
            </a:r>
          </a:p>
        </p:txBody>
      </p:sp>
      <p:sp>
        <p:nvSpPr>
          <p:cNvPr id="268" name="axes-origin-1153">
            <a:extLst xmlns:a="http://schemas.openxmlformats.org/drawingml/2006/main">
              <a:ext uri="{FF2B5EF4-FFF2-40B4-BE49-F238E27FC236}">
                <a16:creationId xmlns:a16="http://schemas.microsoft.com/office/drawing/2014/main" id="{D196137C-B782-4660-B19A-0B03E7D6C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01750" y="7477125"/>
            <a:ext cx="133350" cy="76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343D"/>
          </a:solidFill>
          <a:ln xmlns:a="http://schemas.openxmlformats.org/drawingml/2006/main" w="0">
            <a:noFill/>
          </a:ln>
        </p:spPr>
      </p:sp>
      <p:sp>
        <p:nvSpPr>
          <p:cNvPr id="269" name="arrow-1154">
            <a:extLst xmlns:a="http://schemas.openxmlformats.org/drawingml/2006/main">
              <a:ext uri="{FF2B5EF4-FFF2-40B4-BE49-F238E27FC236}">
                <a16:creationId xmlns:a16="http://schemas.microsoft.com/office/drawing/2014/main" id="{12C5E51D-FCB8-4C11-B221-DE23C29C5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14068425" y="7058025"/>
            <a:ext cx="476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F343D"/>
            </a:solidFill>
            <a:prstDash val="solid"/>
          </a:ln>
        </p:spPr>
      </p:sp>
      <p:sp>
        <p:nvSpPr>
          <p:cNvPr id="270" name="arrow-head-1155">
            <a:extLst xmlns:a="http://schemas.openxmlformats.org/drawingml/2006/main">
              <a:ext uri="{FF2B5EF4-FFF2-40B4-BE49-F238E27FC236}">
                <a16:creationId xmlns:a16="http://schemas.microsoft.com/office/drawing/2014/main" id="{B27D8B19-032C-45DE-9E6F-820726261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35659" y="7058025"/>
            <a:ext cx="65532" cy="76200"/>
          </a:xfrm>
          <a:custGeom xmlns:a="http://schemas.openxmlformats.org/drawingml/2006/main">
            <a:pathLst>
              <a:path w="65532" h="76200">
                <a:moveTo>
                  <a:pt x="32766" y="0"/>
                </a:moveTo>
                <a:lnTo>
                  <a:pt x="65532" y="76200"/>
                </a:lnTo>
                <a:lnTo>
                  <a:pt x="0" y="76200"/>
                </a:lnTo>
                <a:close/>
              </a:path>
            </a:pathLst>
          </a:custGeom>
          <a:solidFill xmlns:a="http://schemas.openxmlformats.org/drawingml/2006/main">
            <a:srgbClr val="2F343D"/>
          </a:solidFill>
          <a:ln xmlns:a="http://schemas.openxmlformats.org/drawingml/2006/main" w="0">
            <a:noFill/>
          </a:ln>
        </p:spPr>
      </p:sp>
      <p:sp>
        <p:nvSpPr>
          <p:cNvPr id="271" name="arrow-1156">
            <a:extLst xmlns:a="http://schemas.openxmlformats.org/drawingml/2006/main">
              <a:ext uri="{FF2B5EF4-FFF2-40B4-BE49-F238E27FC236}">
                <a16:creationId xmlns:a16="http://schemas.microsoft.com/office/drawing/2014/main" id="{B52ECC8C-28D7-4729-AD06-1BE5DA91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14068425" y="7515225"/>
            <a:ext cx="52387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1908">
            <a:solidFill>
              <a:srgbClr val="2F343D"/>
            </a:solidFill>
            <a:prstDash val="solid"/>
          </a:ln>
        </p:spPr>
      </p:sp>
      <p:sp>
        <p:nvSpPr>
          <p:cNvPr id="272" name="arrow-head-1157">
            <a:extLst xmlns:a="http://schemas.openxmlformats.org/drawingml/2006/main">
              <a:ext uri="{FF2B5EF4-FFF2-40B4-BE49-F238E27FC236}">
                <a16:creationId xmlns:a16="http://schemas.microsoft.com/office/drawing/2014/main" id="{F3EAE5E1-FFBA-40D4-83F4-E569925C4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16100" y="7482459"/>
            <a:ext cx="76200" cy="65532"/>
          </a:xfrm>
          <a:custGeom xmlns:a="http://schemas.openxmlformats.org/drawingml/2006/main">
            <a:pathLst>
              <a:path w="76200" h="65532">
                <a:moveTo>
                  <a:pt x="76200" y="32766"/>
                </a:moveTo>
                <a:lnTo>
                  <a:pt x="0" y="655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2F343D"/>
          </a:solidFill>
          <a:ln xmlns:a="http://schemas.openxmlformats.org/drawingml/2006/main" w="0">
            <a:noFill/>
          </a:ln>
        </p:spPr>
      </p:sp>
      <p:sp>
        <p:nvSpPr>
          <p:cNvPr id="273" name="label-1158">
            <a:extLst xmlns:a="http://schemas.openxmlformats.org/drawingml/2006/main">
              <a:ext uri="{FF2B5EF4-FFF2-40B4-BE49-F238E27FC236}">
                <a16:creationId xmlns:a16="http://schemas.microsoft.com/office/drawing/2014/main" id="{161E16B3-9609-440D-A2B8-1453B96A6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5550" y="6724650"/>
            <a:ext cx="304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1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x</a:t>
            </a:r>
          </a:p>
        </p:txBody>
      </p:sp>
      <p:sp>
        <p:nvSpPr>
          <p:cNvPr id="274" name="label-1159">
            <a:extLst xmlns:a="http://schemas.openxmlformats.org/drawingml/2006/main">
              <a:ext uri="{FF2B5EF4-FFF2-40B4-BE49-F238E27FC236}">
                <a16:creationId xmlns:a16="http://schemas.microsoft.com/office/drawing/2014/main" id="{F59AFC02-32CD-4EE8-81A9-44AB18AAA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20875" y="7353300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1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z</a:t>
            </a:r>
          </a:p>
        </p:txBody>
      </p:sp>
      <p:sp>
        <p:nvSpPr>
          <p:cNvPr id="275" name="label-1160">
            <a:extLst xmlns:a="http://schemas.openxmlformats.org/drawingml/2006/main">
              <a:ext uri="{FF2B5EF4-FFF2-40B4-BE49-F238E27FC236}">
                <a16:creationId xmlns:a16="http://schemas.microsoft.com/office/drawing/2014/main" id="{5AEF0016-21D8-4306-94A7-A6517F261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35050" y="7553325"/>
            <a:ext cx="266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00" b="1" i="1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800" b="1" i="1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y</a:t>
            </a:r>
          </a:p>
        </p:txBody>
      </p:sp>
      <p:sp>
        <p:nvSpPr>
          <p:cNvPr id="276" name="circular-channel-selector-ref-round2">
            <a:extLst xmlns:a="http://schemas.openxmlformats.org/drawingml/2006/main">
              <a:ext uri="{FF2B5EF4-FFF2-40B4-BE49-F238E27FC236}">
                <a16:creationId xmlns:a16="http://schemas.microsoft.com/office/drawing/2014/main" id="{CC15FD65-7EA0-4465-B8A9-40260DE43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86975" y="1600200"/>
            <a:ext cx="36576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defRPr>
            </a:pPr>
            <a:r>
              <a:rPr sz="1575" b="1">
                <a:solidFill>
                  <a:srgbClr val="2F343D"/>
                </a:solidFill>
                <a:latin typeface="Times New Roman"/>
                <a:ea typeface="Times New Roman"/>
                <a:cs typeface="Times New Roman"/>
              </a:rPr>
              <a:t>select each circular channel</a:t>
            </a:r>
          </a:p>
        </p:txBody>
      </p:sp>
    </p:spTree>
    <p:extLst>
      <p:ext uri="{BB962C8B-B14F-4D97-AF65-F5344CB8AC3E}">
        <p14:creationId xmlns:p14="http://schemas.microsoft.com/office/powerpoint/2010/main" val="7598868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figure-frame-115">
            <a:extLst xmlns:a="http://schemas.openxmlformats.org/drawingml/2006/main">
              <a:ext uri="{FF2B5EF4-FFF2-40B4-BE49-F238E27FC236}">
                <a16:creationId xmlns:a16="http://schemas.microsoft.com/office/drawing/2014/main" id="{12F82D95-8B6A-42FD-9CB6-971C3E51F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0500"/>
            <a:ext cx="14668500" cy="817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A9AC"/>
            </a:solidFill>
            <a:prstDash val="solid"/>
          </a:ln>
        </p:spPr>
      </p:sp>
      <p:sp>
        <p:nvSpPr>
          <p:cNvPr id="2" name="panel-116">
            <a:extLst xmlns:a="http://schemas.openxmlformats.org/drawingml/2006/main">
              <a:ext uri="{FF2B5EF4-FFF2-40B4-BE49-F238E27FC236}">
                <a16:creationId xmlns:a16="http://schemas.microsoft.com/office/drawing/2014/main" id="{679A1575-CFDF-4608-96C5-4FEA7E3A7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38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b</a:t>
            </a:r>
            <a:endParaRPr sz="3300" b="1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itle-117">
            <a:extLst xmlns:a="http://schemas.openxmlformats.org/drawingml/2006/main">
              <a:ext uri="{FF2B5EF4-FFF2-40B4-BE49-F238E27FC236}">
                <a16:creationId xmlns:a16="http://schemas.microsoft.com/office/drawing/2014/main" id="{2AA413DB-88F6-4826-A4D7-83796E12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Simultaneous axial acquisition</a:t>
            </a:r>
            <a:endParaRPr sz="3150" b="1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beam-envelope-118">
            <a:extLst xmlns:a="http://schemas.openxmlformats.org/drawingml/2006/main">
              <a:ext uri="{FF2B5EF4-FFF2-40B4-BE49-F238E27FC236}">
                <a16:creationId xmlns:a16="http://schemas.microsoft.com/office/drawing/2014/main" id="{31A7A49E-23A5-4A3B-BF36-705805B9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682942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0">
            <a:solidFill>
              <a:srgbClr val="7548A5">
                <a:alpha val="13000"/>
              </a:srgbClr>
            </a:solidFill>
            <a:prstDash val="solid"/>
          </a:ln>
        </p:spPr>
      </p:sp>
      <p:sp>
        <p:nvSpPr>
          <p:cNvPr id="5" name="beam-119">
            <a:extLst xmlns:a="http://schemas.openxmlformats.org/drawingml/2006/main">
              <a:ext uri="{FF2B5EF4-FFF2-40B4-BE49-F238E27FC236}">
                <a16:creationId xmlns:a16="http://schemas.microsoft.com/office/drawing/2014/main" id="{B1FDE45B-08F9-4E32-8CEE-8045D1128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533775"/>
            <a:ext cx="682942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7548A5"/>
            </a:solidFill>
            <a:prstDash val="solid"/>
          </a:ln>
        </p:spPr>
      </p:sp>
      <p:sp>
        <p:nvSpPr>
          <p:cNvPr id="6" name="beam-envelope-120">
            <a:extLst xmlns:a="http://schemas.openxmlformats.org/drawingml/2006/main">
              <a:ext uri="{FF2B5EF4-FFF2-40B4-BE49-F238E27FC236}">
                <a16:creationId xmlns:a16="http://schemas.microsoft.com/office/drawing/2014/main" id="{84C45DC4-894B-42A0-A47A-7E45880B5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33775"/>
            <a:ext cx="399097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0">
            <a:solidFill>
              <a:srgbClr val="0588CC">
                <a:alpha val="13000"/>
              </a:srgbClr>
            </a:solidFill>
            <a:prstDash val="solid"/>
          </a:ln>
        </p:spPr>
      </p:sp>
      <p:sp>
        <p:nvSpPr>
          <p:cNvPr id="7" name="beam-121">
            <a:extLst xmlns:a="http://schemas.openxmlformats.org/drawingml/2006/main">
              <a:ext uri="{FF2B5EF4-FFF2-40B4-BE49-F238E27FC236}">
                <a16:creationId xmlns:a16="http://schemas.microsoft.com/office/drawing/2014/main" id="{077AF2A9-12B3-4ACD-BF2E-19C83B480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33775"/>
            <a:ext cx="399097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588CC"/>
            </a:solidFill>
            <a:prstDash val="solid"/>
          </a:ln>
        </p:spPr>
      </p:sp>
      <p:sp>
        <p:nvSpPr>
          <p:cNvPr id="8" name="beam-envelope-122">
            <a:extLst xmlns:a="http://schemas.openxmlformats.org/drawingml/2006/main">
              <a:ext uri="{FF2B5EF4-FFF2-40B4-BE49-F238E27FC236}">
                <a16:creationId xmlns:a16="http://schemas.microsoft.com/office/drawing/2014/main" id="{489B5543-1188-4EB0-8872-7F21BC796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33775"/>
            <a:ext cx="1038225" cy="2076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0">
            <a:solidFill>
              <a:srgbClr val="E86B00">
                <a:alpha val="13000"/>
              </a:srgbClr>
            </a:solidFill>
            <a:prstDash val="solid"/>
          </a:ln>
        </p:spPr>
      </p:sp>
      <p:sp>
        <p:nvSpPr>
          <p:cNvPr id="9" name="beam-123">
            <a:extLst xmlns:a="http://schemas.openxmlformats.org/drawingml/2006/main">
              <a:ext uri="{FF2B5EF4-FFF2-40B4-BE49-F238E27FC236}">
                <a16:creationId xmlns:a16="http://schemas.microsoft.com/office/drawing/2014/main" id="{1E70B353-FA34-4048-8202-CE0567AF9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0025" y="3533775"/>
            <a:ext cx="1038225" cy="2076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6B00"/>
            </a:solidFill>
            <a:prstDash val="solid"/>
          </a:ln>
        </p:spPr>
      </p:sp>
      <p:sp>
        <p:nvSpPr>
          <p:cNvPr id="10" name="beam-envelope-124">
            <a:extLst xmlns:a="http://schemas.openxmlformats.org/drawingml/2006/main">
              <a:ext uri="{FF2B5EF4-FFF2-40B4-BE49-F238E27FC236}">
                <a16:creationId xmlns:a16="http://schemas.microsoft.com/office/drawing/2014/main" id="{1D9C46BC-2D8B-479F-98A8-AB2EFB8D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10225"/>
            <a:ext cx="295275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0">
            <a:solidFill>
              <a:srgbClr val="E86B00">
                <a:alpha val="13000"/>
              </a:srgbClr>
            </a:solidFill>
            <a:prstDash val="solid"/>
          </a:ln>
        </p:spPr>
      </p:sp>
      <p:sp>
        <p:nvSpPr>
          <p:cNvPr id="11" name="beam-125">
            <a:extLst xmlns:a="http://schemas.openxmlformats.org/drawingml/2006/main">
              <a:ext uri="{FF2B5EF4-FFF2-40B4-BE49-F238E27FC236}">
                <a16:creationId xmlns:a16="http://schemas.microsoft.com/office/drawing/2014/main" id="{AB8E55E7-4EE4-417C-98B5-ECB195446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10225"/>
            <a:ext cx="2952750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6B00"/>
            </a:solidFill>
            <a:prstDash val="solid"/>
          </a:ln>
        </p:spPr>
      </p:sp>
      <p:sp>
        <p:nvSpPr>
          <p:cNvPr id="12" name="arrow-126">
            <a:extLst xmlns:a="http://schemas.openxmlformats.org/drawingml/2006/main">
              <a:ext uri="{FF2B5EF4-FFF2-40B4-BE49-F238E27FC236}">
                <a16:creationId xmlns:a16="http://schemas.microsoft.com/office/drawing/2014/main" id="{E5FD96A5-FA01-4E9A-844B-B884595CF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533775"/>
            <a:ext cx="31432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588CC"/>
            </a:solidFill>
            <a:prstDash val="solid"/>
          </a:ln>
        </p:spPr>
      </p:sp>
      <p:sp>
        <p:nvSpPr>
          <p:cNvPr id="13" name="arrow-head-127">
            <a:extLst xmlns:a="http://schemas.openxmlformats.org/drawingml/2006/main">
              <a:ext uri="{FF2B5EF4-FFF2-40B4-BE49-F238E27FC236}">
                <a16:creationId xmlns:a16="http://schemas.microsoft.com/office/drawing/2014/main" id="{721411DF-54FB-4005-986C-5C2950C2E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3484626"/>
            <a:ext cx="114300" cy="98298"/>
          </a:xfrm>
          <a:custGeom xmlns:a="http://schemas.openxmlformats.org/drawingml/2006/main">
            <a:pathLst>
              <a:path w="114300" h="98298">
                <a:moveTo>
                  <a:pt x="114300" y="49149"/>
                </a:moveTo>
                <a:lnTo>
                  <a:pt x="0" y="982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588CC"/>
          </a:solidFill>
          <a:ln xmlns:a="http://schemas.openxmlformats.org/drawingml/2006/main" w="0">
            <a:noFill/>
          </a:ln>
        </p:spPr>
      </p:sp>
      <p:sp>
        <p:nvSpPr>
          <p:cNvPr id="14" name="arrow-128">
            <a:extLst xmlns:a="http://schemas.openxmlformats.org/drawingml/2006/main">
              <a:ext uri="{FF2B5EF4-FFF2-40B4-BE49-F238E27FC236}">
                <a16:creationId xmlns:a16="http://schemas.microsoft.com/office/drawing/2014/main" id="{7F93D079-5BF6-478C-B8E3-9B53FE541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5610225"/>
            <a:ext cx="31432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86B00"/>
            </a:solidFill>
            <a:prstDash val="solid"/>
          </a:ln>
        </p:spPr>
      </p:sp>
      <p:sp>
        <p:nvSpPr>
          <p:cNvPr id="15" name="arrow-head-129">
            <a:extLst xmlns:a="http://schemas.openxmlformats.org/drawingml/2006/main">
              <a:ext uri="{FF2B5EF4-FFF2-40B4-BE49-F238E27FC236}">
                <a16:creationId xmlns:a16="http://schemas.microsoft.com/office/drawing/2014/main" id="{6923D9D0-0A84-4BA3-978C-5C8E4487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44225" y="5561076"/>
            <a:ext cx="114300" cy="98298"/>
          </a:xfrm>
          <a:custGeom xmlns:a="http://schemas.openxmlformats.org/drawingml/2006/main">
            <a:pathLst>
              <a:path w="114300" h="98298">
                <a:moveTo>
                  <a:pt x="114300" y="49149"/>
                </a:moveTo>
                <a:lnTo>
                  <a:pt x="0" y="982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86B00"/>
          </a:solidFill>
          <a:ln xmlns:a="http://schemas.openxmlformats.org/drawingml/2006/main" w="0">
            <a:noFill/>
          </a:ln>
        </p:spPr>
      </p:sp>
      <p:sp>
        <p:nvSpPr>
          <p:cNvPr id="16" name="plane-z-130">
            <a:extLst xmlns:a="http://schemas.openxmlformats.org/drawingml/2006/main">
              <a:ext uri="{FF2B5EF4-FFF2-40B4-BE49-F238E27FC236}">
                <a16:creationId xmlns:a16="http://schemas.microsoft.com/office/drawing/2014/main" id="{3E7951D2-25A5-4878-9E54-C3FE7518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962275"/>
            <a:ext cx="476" cy="1143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F343D"/>
            </a:solidFill>
            <a:prstDash val="solid"/>
          </a:ln>
        </p:spPr>
      </p:sp>
      <p:sp>
        <p:nvSpPr>
          <p:cNvPr id="17" name="label-131">
            <a:extLst xmlns:a="http://schemas.openxmlformats.org/drawingml/2006/main">
              <a:ext uri="{FF2B5EF4-FFF2-40B4-BE49-F238E27FC236}">
                <a16:creationId xmlns:a16="http://schemas.microsoft.com/office/drawing/2014/main" id="{ECB4AA07-EACD-4AD8-9E6E-F61A47CC8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66975"/>
            <a:ext cx="1028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plane z</a:t>
            </a:r>
            <a:endParaRPr sz="1950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lens-132">
            <a:extLst xmlns:a="http://schemas.openxmlformats.org/drawingml/2006/main">
              <a:ext uri="{FF2B5EF4-FFF2-40B4-BE49-F238E27FC236}">
                <a16:creationId xmlns:a16="http://schemas.microsoft.com/office/drawing/2014/main" id="{B7B4BDDD-079D-484B-AF8D-65C9270FE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3162300"/>
            <a:ext cx="285750" cy="742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CE8EE"/>
          </a:solidFill>
          <a:ln xmlns:a="http://schemas.openxmlformats.org/drawingml/2006/main" w="20003">
            <a:solidFill>
              <a:srgbClr val="32889B"/>
            </a:solidFill>
          </a:ln>
        </p:spPr>
      </p:sp>
      <p:sp>
        <p:nvSpPr>
          <p:cNvPr id="19" name="label-133">
            <a:extLst xmlns:a="http://schemas.openxmlformats.org/drawingml/2006/main">
              <a:ext uri="{FF2B5EF4-FFF2-40B4-BE49-F238E27FC236}">
                <a16:creationId xmlns:a16="http://schemas.microsoft.com/office/drawing/2014/main" id="{C5C2B8E3-2E21-4E53-9AC2-61CE42E5B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4181475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relay L</a:t>
            </a:r>
            <a:endParaRPr sz="187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PBS-134">
            <a:extLst xmlns:a="http://schemas.openxmlformats.org/drawingml/2006/main">
              <a:ext uri="{FF2B5EF4-FFF2-40B4-BE49-F238E27FC236}">
                <a16:creationId xmlns:a16="http://schemas.microsoft.com/office/drawing/2014/main" id="{8FDFB2A1-F227-4393-9403-2FF101F4B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05175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F3">
              <a:alpha val="72000"/>
            </a:srgbClr>
          </a:solidFill>
          <a:ln xmlns:a="http://schemas.openxmlformats.org/drawingml/2006/main" w="19050">
            <a:solidFill>
              <a:srgbClr val="5F9AAC"/>
            </a:solidFill>
            <a:prstDash val="solid"/>
          </a:ln>
        </p:spPr>
      </p:sp>
      <p:sp>
        <p:nvSpPr>
          <p:cNvPr id="21" name="PBS-diagonal-135">
            <a:extLst xmlns:a="http://schemas.openxmlformats.org/drawingml/2006/main">
              <a:ext uri="{FF2B5EF4-FFF2-40B4-BE49-F238E27FC236}">
                <a16:creationId xmlns:a16="http://schemas.microsoft.com/office/drawing/2014/main" id="{20E8E26D-2816-4495-A5C8-0B1A8EB2B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3305175"/>
            <a:ext cx="68580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A6B6"/>
            </a:solidFill>
            <a:prstDash val="solid"/>
          </a:ln>
        </p:spPr>
      </p:sp>
      <p:sp>
        <p:nvSpPr>
          <p:cNvPr id="22" name="label-136">
            <a:extLst xmlns:a="http://schemas.openxmlformats.org/drawingml/2006/main">
              <a:ext uri="{FF2B5EF4-FFF2-40B4-BE49-F238E27FC236}">
                <a16:creationId xmlns:a16="http://schemas.microsoft.com/office/drawing/2014/main" id="{2515AFFC-CC64-4D53-9D3C-E072870EC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4124325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BS</a:t>
            </a:r>
            <a:endParaRPr sz="1875" b="1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waveplate-137">
            <a:extLst xmlns:a="http://schemas.openxmlformats.org/drawingml/2006/main">
              <a:ext uri="{FF2B5EF4-FFF2-40B4-BE49-F238E27FC236}">
                <a16:creationId xmlns:a16="http://schemas.microsoft.com/office/drawing/2014/main" id="{B2B6AF2B-FD4A-47BF-8AED-82E16AFBD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162300"/>
            <a:ext cx="1524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8F5"/>
          </a:solidFill>
          <a:ln xmlns:a="http://schemas.openxmlformats.org/drawingml/2006/main" w="19050">
            <a:solidFill>
              <a:srgbClr val="2F343D"/>
            </a:solidFill>
            <a:prstDash val="solid"/>
          </a:ln>
        </p:spPr>
      </p:sp>
      <p:sp>
        <p:nvSpPr>
          <p:cNvPr id="24" name="formula-138">
            <a:extLst xmlns:a="http://schemas.openxmlformats.org/drawingml/2006/main">
              <a:ext uri="{FF2B5EF4-FFF2-40B4-BE49-F238E27FC236}">
                <a16:creationId xmlns:a16="http://schemas.microsoft.com/office/drawing/2014/main" id="{E88C178A-70A0-4CAB-8F38-DDE73BE44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7430" y="4181475"/>
            <a:ext cx="587883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QWP</a:t>
            </a:r>
            <a:endParaRPr sz="187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formula-139">
            <a:extLst xmlns:a="http://schemas.openxmlformats.org/drawingml/2006/main">
              <a:ext uri="{FF2B5EF4-FFF2-40B4-BE49-F238E27FC236}">
                <a16:creationId xmlns:a16="http://schemas.microsoft.com/office/drawing/2014/main" id="{61E41F03-9300-40E3-930F-EC8A04D5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263" y="4264819"/>
            <a:ext cx="130207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31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A</a:t>
            </a:r>
            <a:endParaRPr sz="131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PBS-140">
            <a:extLst xmlns:a="http://schemas.openxmlformats.org/drawingml/2006/main">
              <a:ext uri="{FF2B5EF4-FFF2-40B4-BE49-F238E27FC236}">
                <a16:creationId xmlns:a16="http://schemas.microsoft.com/office/drawing/2014/main" id="{4C7EDAD2-A3B7-406F-9DC6-36784127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05175"/>
            <a:ext cx="685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E7F3">
              <a:alpha val="72000"/>
            </a:srgbClr>
          </a:solidFill>
          <a:ln xmlns:a="http://schemas.openxmlformats.org/drawingml/2006/main" w="19050">
            <a:solidFill>
              <a:srgbClr val="5F9AAC"/>
            </a:solidFill>
            <a:prstDash val="solid"/>
          </a:ln>
        </p:spPr>
      </p:sp>
      <p:sp>
        <p:nvSpPr>
          <p:cNvPr id="27" name="PBS-diagonal-141">
            <a:extLst xmlns:a="http://schemas.openxmlformats.org/drawingml/2006/main">
              <a:ext uri="{FF2B5EF4-FFF2-40B4-BE49-F238E27FC236}">
                <a16:creationId xmlns:a16="http://schemas.microsoft.com/office/drawing/2014/main" id="{E7BD2620-72FD-4887-93A0-CCF700FC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3305175"/>
            <a:ext cx="68580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70A6B6"/>
            </a:solidFill>
            <a:prstDash val="solid"/>
          </a:ln>
        </p:spPr>
      </p:sp>
      <p:sp>
        <p:nvSpPr>
          <p:cNvPr id="28" name="label-142">
            <a:extLst xmlns:a="http://schemas.openxmlformats.org/drawingml/2006/main">
              <a:ext uri="{FF2B5EF4-FFF2-40B4-BE49-F238E27FC236}">
                <a16:creationId xmlns:a16="http://schemas.microsoft.com/office/drawing/2014/main" id="{C063CA90-F543-462A-8790-7C610BDB3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171950"/>
            <a:ext cx="133350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PBS₃</a:t>
            </a:r>
            <a:endParaRPr sz="1875" b="1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mirror-143">
            <a:extLst xmlns:a="http://schemas.openxmlformats.org/drawingml/2006/main">
              <a:ext uri="{FF2B5EF4-FFF2-40B4-BE49-F238E27FC236}">
                <a16:creationId xmlns:a16="http://schemas.microsoft.com/office/drawing/2014/main" id="{A09C5979-D36D-4DC8-BDC4-5C7C21C3F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448300"/>
            <a:ext cx="7810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B82525"/>
            </a:solidFill>
            <a:prstDash val="solid"/>
          </a:ln>
        </p:spPr>
      </p:sp>
      <p:sp>
        <p:nvSpPr>
          <p:cNvPr id="30" name="mirror-highlight-144">
            <a:extLst xmlns:a="http://schemas.openxmlformats.org/drawingml/2006/main">
              <a:ext uri="{FF2B5EF4-FFF2-40B4-BE49-F238E27FC236}">
                <a16:creationId xmlns:a16="http://schemas.microsoft.com/office/drawing/2014/main" id="{34CB5E5B-F89E-40B4-B587-E0033496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7725" y="5448300"/>
            <a:ext cx="781050" cy="3238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3335">
            <a:solidFill>
              <a:srgbClr val="F2917D"/>
            </a:solidFill>
            <a:prstDash val="solid"/>
          </a:ln>
        </p:spPr>
      </p:sp>
      <p:sp>
        <p:nvSpPr>
          <p:cNvPr id="31" name="label-145">
            <a:extLst xmlns:a="http://schemas.openxmlformats.org/drawingml/2006/main">
              <a:ext uri="{FF2B5EF4-FFF2-40B4-BE49-F238E27FC236}">
                <a16:creationId xmlns:a16="http://schemas.microsoft.com/office/drawing/2014/main" id="{826007BD-97F2-4300-AB1F-87E3A214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134100"/>
            <a:ext cx="8572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M₅</a:t>
            </a:r>
            <a:endParaRPr sz="187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camera-body-146">
            <a:extLst xmlns:a="http://schemas.openxmlformats.org/drawingml/2006/main">
              <a:ext uri="{FF2B5EF4-FFF2-40B4-BE49-F238E27FC236}">
                <a16:creationId xmlns:a16="http://schemas.microsoft.com/office/drawing/2014/main" id="{3E95C12A-3F86-437B-AD2A-B4DAF8C7C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3200400"/>
            <a:ext cx="104775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D5259"/>
          </a:solidFill>
          <a:ln xmlns:a="http://schemas.openxmlformats.org/drawingml/2006/main" w="19050">
            <a:solidFill>
              <a:srgbClr val="2F343D"/>
            </a:solidFill>
            <a:prstDash val="solid"/>
          </a:ln>
        </p:spPr>
      </p:sp>
      <p:sp>
        <p:nvSpPr>
          <p:cNvPr id="33" name="camera-sensor-147">
            <a:extLst xmlns:a="http://schemas.openxmlformats.org/drawingml/2006/main">
              <a:ext uri="{FF2B5EF4-FFF2-40B4-BE49-F238E27FC236}">
                <a16:creationId xmlns:a16="http://schemas.microsoft.com/office/drawing/2014/main" id="{8E37B601-A365-4B38-9BB7-EC768FBF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3352800"/>
            <a:ext cx="2571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C"/>
          </a:solidFill>
          <a:ln xmlns:a="http://schemas.openxmlformats.org/drawingml/2006/main" w="28575">
            <a:solidFill>
              <a:srgbClr val="0588CC"/>
            </a:solidFill>
            <a:prstDash val="solid"/>
          </a:ln>
        </p:spPr>
      </p:sp>
      <p:sp>
        <p:nvSpPr>
          <p:cNvPr id="34" name="camera-port-148">
            <a:extLst xmlns:a="http://schemas.openxmlformats.org/drawingml/2006/main">
              <a:ext uri="{FF2B5EF4-FFF2-40B4-BE49-F238E27FC236}">
                <a16:creationId xmlns:a16="http://schemas.microsoft.com/office/drawing/2014/main" id="{2C8E1886-D20E-42A8-8F8A-FE2F1A1F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3467100"/>
            <a:ext cx="1714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82E"/>
          </a:solidFill>
          <a:ln xmlns:a="http://schemas.openxmlformats.org/drawingml/2006/main" w="9525">
            <a:solidFill>
              <a:srgbClr val="90969C"/>
            </a:solidFill>
          </a:ln>
        </p:spPr>
      </p:sp>
      <p:sp>
        <p:nvSpPr>
          <p:cNvPr id="35" name="label-149">
            <a:extLst xmlns:a="http://schemas.openxmlformats.org/drawingml/2006/main">
              <a:ext uri="{FF2B5EF4-FFF2-40B4-BE49-F238E27FC236}">
                <a16:creationId xmlns:a16="http://schemas.microsoft.com/office/drawing/2014/main" id="{54981424-66C5-4D87-BCD8-23742BABE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4162425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0588CC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0588CC"/>
                </a:solidFill>
                <a:latin typeface="Arial"/>
                <a:ea typeface="Arial"/>
                <a:cs typeface="Arial"/>
              </a:rPr>
              <a:t>camera +</a:t>
            </a:r>
            <a:endParaRPr sz="1950" b="1" i="0">
              <a:solidFill>
                <a:srgbClr val="0588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formula-150">
            <a:extLst xmlns:a="http://schemas.openxmlformats.org/drawingml/2006/main">
              <a:ext uri="{FF2B5EF4-FFF2-40B4-BE49-F238E27FC236}">
                <a16:creationId xmlns:a16="http://schemas.microsoft.com/office/drawing/2014/main" id="{153594E1-9482-4725-96B5-8EC80E1D8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009" y="4457700"/>
            <a:ext cx="190976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1">
                <a:solidFill>
                  <a:srgbClr val="0588CC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0588CC"/>
                </a:solidFill>
                <a:latin typeface="Arial"/>
                <a:ea typeface="Arial"/>
                <a:cs typeface="Arial"/>
              </a:rPr>
              <a:t>C</a:t>
            </a:r>
            <a:endParaRPr sz="1875" b="0" i="1">
              <a:solidFill>
                <a:srgbClr val="0588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formula-151">
            <a:extLst xmlns:a="http://schemas.openxmlformats.org/drawingml/2006/main">
              <a:ext uri="{FF2B5EF4-FFF2-40B4-BE49-F238E27FC236}">
                <a16:creationId xmlns:a16="http://schemas.microsoft.com/office/drawing/2014/main" id="{DF99532B-9794-46F3-97AA-0192EAD8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935" y="4541044"/>
            <a:ext cx="116396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5" b="0" i="0">
                <a:solidFill>
                  <a:srgbClr val="0588CC"/>
                </a:solidFill>
                <a:latin typeface="Arial"/>
                <a:ea typeface="Arial"/>
                <a:cs typeface="Arial"/>
              </a:defRPr>
            </a:pPr>
            <a:r>
              <a:rPr sz="1315" b="0" i="0">
                <a:solidFill>
                  <a:srgbClr val="0588CC"/>
                </a:solidFill>
                <a:latin typeface="Arial"/>
                <a:ea typeface="Arial"/>
                <a:cs typeface="Arial"/>
              </a:rPr>
              <a:t>+</a:t>
            </a:r>
            <a:endParaRPr sz="1315" b="0" i="0">
              <a:solidFill>
                <a:srgbClr val="0588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formula-152">
            <a:extLst xmlns:a="http://schemas.openxmlformats.org/drawingml/2006/main">
              <a:ext uri="{FF2B5EF4-FFF2-40B4-BE49-F238E27FC236}">
                <a16:creationId xmlns:a16="http://schemas.microsoft.com/office/drawing/2014/main" id="{40841E66-084C-487B-8B01-6370D938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281" y="4457700"/>
            <a:ext cx="64951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1">
                <a:solidFill>
                  <a:srgbClr val="0588CC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0588CC"/>
                </a:solidFill>
                <a:latin typeface="Arial"/>
                <a:ea typeface="Arial"/>
                <a:cs typeface="Arial"/>
              </a:rPr>
              <a:t>(x,y,z)</a:t>
            </a:r>
            <a:endParaRPr sz="1875" b="0" i="1">
              <a:solidFill>
                <a:srgbClr val="0588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camera-body-153">
            <a:extLst xmlns:a="http://schemas.openxmlformats.org/drawingml/2006/main">
              <a:ext uri="{FF2B5EF4-FFF2-40B4-BE49-F238E27FC236}">
                <a16:creationId xmlns:a16="http://schemas.microsoft.com/office/drawing/2014/main" id="{7ADA35BA-212B-4978-938E-9B67ED16E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0" y="5276850"/>
            <a:ext cx="1047750" cy="66675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4D5259"/>
          </a:solidFill>
          <a:ln xmlns:a="http://schemas.openxmlformats.org/drawingml/2006/main" w="19050">
            <a:solidFill>
              <a:srgbClr val="2F343D"/>
            </a:solidFill>
            <a:prstDash val="solid"/>
          </a:ln>
        </p:spPr>
      </p:sp>
      <p:sp>
        <p:nvSpPr>
          <p:cNvPr id="40" name="camera-sensor-154">
            <a:extLst xmlns:a="http://schemas.openxmlformats.org/drawingml/2006/main">
              <a:ext uri="{FF2B5EF4-FFF2-40B4-BE49-F238E27FC236}">
                <a16:creationId xmlns:a16="http://schemas.microsoft.com/office/drawing/2014/main" id="{1037CB1E-58C8-4910-8283-1EF71F4A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11050" y="5429250"/>
            <a:ext cx="2571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BFC"/>
          </a:solidFill>
          <a:ln xmlns:a="http://schemas.openxmlformats.org/drawingml/2006/main" w="28575">
            <a:solidFill>
              <a:srgbClr val="E86B00"/>
            </a:solidFill>
            <a:prstDash val="solid"/>
          </a:ln>
        </p:spPr>
      </p:sp>
      <p:sp>
        <p:nvSpPr>
          <p:cNvPr id="41" name="camera-port-155">
            <a:extLst xmlns:a="http://schemas.openxmlformats.org/drawingml/2006/main">
              <a:ext uri="{FF2B5EF4-FFF2-40B4-BE49-F238E27FC236}">
                <a16:creationId xmlns:a16="http://schemas.microsoft.com/office/drawing/2014/main" id="{3D72DFC3-5F65-4AEC-ACA6-29BC253F7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92050" y="5543550"/>
            <a:ext cx="171450" cy="133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4282E"/>
          </a:solidFill>
          <a:ln xmlns:a="http://schemas.openxmlformats.org/drawingml/2006/main" w="9525">
            <a:solidFill>
              <a:srgbClr val="90969C"/>
            </a:solidFill>
          </a:ln>
        </p:spPr>
      </p:sp>
      <p:sp>
        <p:nvSpPr>
          <p:cNvPr id="42" name="label-156">
            <a:extLst xmlns:a="http://schemas.openxmlformats.org/drawingml/2006/main">
              <a:ext uri="{FF2B5EF4-FFF2-40B4-BE49-F238E27FC236}">
                <a16:creationId xmlns:a16="http://schemas.microsoft.com/office/drawing/2014/main" id="{E521BA63-7304-474A-99A0-EA42E9BE7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305550"/>
            <a:ext cx="2190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950" b="1" i="0">
                <a:solidFill>
                  <a:srgbClr val="E86B00"/>
                </a:solidFill>
                <a:latin typeface="Arial"/>
                <a:ea typeface="Arial"/>
                <a:cs typeface="Arial"/>
              </a:defRPr>
            </a:pPr>
            <a:r>
              <a:rPr sz="1950" b="1" i="0">
                <a:solidFill>
                  <a:srgbClr val="E86B00"/>
                </a:solidFill>
                <a:latin typeface="Arial"/>
                <a:ea typeface="Arial"/>
                <a:cs typeface="Arial"/>
              </a:rPr>
              <a:t>camera −</a:t>
            </a:r>
            <a:endParaRPr sz="1950" b="1" i="0">
              <a:solidFill>
                <a:srgbClr val="E86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formula-157">
            <a:extLst xmlns:a="http://schemas.openxmlformats.org/drawingml/2006/main">
              <a:ext uri="{FF2B5EF4-FFF2-40B4-BE49-F238E27FC236}">
                <a16:creationId xmlns:a16="http://schemas.microsoft.com/office/drawing/2014/main" id="{8D1D3517-CB4E-4065-811A-6C27F207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009" y="6600825"/>
            <a:ext cx="190976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1">
                <a:solidFill>
                  <a:srgbClr val="E86B00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E86B00"/>
                </a:solidFill>
                <a:latin typeface="Arial"/>
                <a:ea typeface="Arial"/>
                <a:cs typeface="Arial"/>
              </a:rPr>
              <a:t>C</a:t>
            </a:r>
            <a:endParaRPr sz="1875" b="0" i="1">
              <a:solidFill>
                <a:srgbClr val="E86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formula-158">
            <a:extLst xmlns:a="http://schemas.openxmlformats.org/drawingml/2006/main">
              <a:ext uri="{FF2B5EF4-FFF2-40B4-BE49-F238E27FC236}">
                <a16:creationId xmlns:a16="http://schemas.microsoft.com/office/drawing/2014/main" id="{72564685-7B6A-4B73-81CB-C3E114A5B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56935" y="6684169"/>
            <a:ext cx="116396" cy="25003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15" b="0" i="0">
                <a:solidFill>
                  <a:srgbClr val="E86B00"/>
                </a:solidFill>
                <a:latin typeface="Arial"/>
                <a:ea typeface="Arial"/>
                <a:cs typeface="Arial"/>
              </a:defRPr>
            </a:pPr>
            <a:r>
              <a:rPr sz="1315" b="0" i="0">
                <a:solidFill>
                  <a:srgbClr val="E86B00"/>
                </a:solidFill>
                <a:latin typeface="Arial"/>
                <a:ea typeface="Arial"/>
                <a:cs typeface="Arial"/>
              </a:rPr>
              <a:t>−</a:t>
            </a:r>
            <a:endParaRPr sz="1315" b="0" i="0">
              <a:solidFill>
                <a:srgbClr val="E86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formula-159">
            <a:extLst xmlns:a="http://schemas.openxmlformats.org/drawingml/2006/main">
              <a:ext uri="{FF2B5EF4-FFF2-40B4-BE49-F238E27FC236}">
                <a16:creationId xmlns:a16="http://schemas.microsoft.com/office/drawing/2014/main" id="{DD084628-92C4-4F89-A7D0-3378FC6A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54281" y="6600825"/>
            <a:ext cx="649510" cy="3571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0" i="1">
                <a:solidFill>
                  <a:srgbClr val="E86B00"/>
                </a:solidFill>
                <a:latin typeface="Arial"/>
                <a:ea typeface="Arial"/>
                <a:cs typeface="Arial"/>
              </a:defRPr>
            </a:pPr>
            <a:r>
              <a:rPr sz="1875" b="0" i="1">
                <a:solidFill>
                  <a:srgbClr val="E86B00"/>
                </a:solidFill>
                <a:latin typeface="Arial"/>
                <a:ea typeface="Arial"/>
                <a:cs typeface="Arial"/>
              </a:rPr>
              <a:t>(x,y,z)</a:t>
            </a:r>
            <a:endParaRPr sz="1875" b="0" i="1">
              <a:solidFill>
                <a:srgbClr val="E86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label-160">
            <a:extLst xmlns:a="http://schemas.openxmlformats.org/drawingml/2006/main">
              <a:ext uri="{FF2B5EF4-FFF2-40B4-BE49-F238E27FC236}">
                <a16:creationId xmlns:a16="http://schemas.microsoft.com/office/drawing/2014/main" id="{C9A468A3-32B3-44A9-893D-448204EBE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280987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0588CC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0588CC"/>
                </a:solidFill>
                <a:latin typeface="Arial"/>
                <a:ea typeface="Arial"/>
                <a:cs typeface="Arial"/>
              </a:rPr>
              <a:t>+</a:t>
            </a:r>
            <a:endParaRPr sz="2250" b="0" i="0">
              <a:solidFill>
                <a:srgbClr val="0588C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label-161">
            <a:extLst xmlns:a="http://schemas.openxmlformats.org/drawingml/2006/main">
              <a:ext uri="{FF2B5EF4-FFF2-40B4-BE49-F238E27FC236}">
                <a16:creationId xmlns:a16="http://schemas.microsoft.com/office/drawing/2014/main" id="{99DD6C75-B411-48B4-AA24-BE45D3D67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4848225"/>
            <a:ext cx="38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250" b="0" i="0">
                <a:solidFill>
                  <a:srgbClr val="E86B00"/>
                </a:solidFill>
                <a:latin typeface="Arial"/>
                <a:ea typeface="Arial"/>
                <a:cs typeface="Arial"/>
              </a:defRPr>
            </a:pPr>
            <a:r>
              <a:rPr sz="2250" b="0" i="0">
                <a:solidFill>
                  <a:srgbClr val="E86B00"/>
                </a:solidFill>
                <a:latin typeface="Arial"/>
                <a:ea typeface="Arial"/>
                <a:cs typeface="Arial"/>
              </a:rPr>
              <a:t>−</a:t>
            </a:r>
            <a:endParaRPr sz="2250" b="0" i="0">
              <a:solidFill>
                <a:srgbClr val="E86B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monitor-tap-162">
            <a:extLst xmlns:a="http://schemas.openxmlformats.org/drawingml/2006/main">
              <a:ext uri="{FF2B5EF4-FFF2-40B4-BE49-F238E27FC236}">
                <a16:creationId xmlns:a16="http://schemas.microsoft.com/office/drawing/2014/main" id="{312108F6-E7E3-440C-B183-68AC5E8F0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3762375"/>
            <a:ext cx="476" cy="2714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6773"/>
            </a:solidFill>
            <a:prstDash val="solid"/>
          </a:ln>
        </p:spPr>
      </p:sp>
      <p:sp>
        <p:nvSpPr>
          <p:cNvPr id="49" name="arrow-163">
            <a:extLst xmlns:a="http://schemas.openxmlformats.org/drawingml/2006/main">
              <a:ext uri="{FF2B5EF4-FFF2-40B4-BE49-F238E27FC236}">
                <a16:creationId xmlns:a16="http://schemas.microsoft.com/office/drawing/2014/main" id="{66BBEFB7-E4A1-4848-87CF-7A054CF4C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4819650"/>
            <a:ext cx="476" cy="304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6773"/>
            </a:solidFill>
            <a:prstDash val="solid"/>
          </a:ln>
        </p:spPr>
      </p:sp>
      <p:sp>
        <p:nvSpPr>
          <p:cNvPr id="50" name="arrow-head-164">
            <a:extLst xmlns:a="http://schemas.openxmlformats.org/drawingml/2006/main">
              <a:ext uri="{FF2B5EF4-FFF2-40B4-BE49-F238E27FC236}">
                <a16:creationId xmlns:a16="http://schemas.microsoft.com/office/drawing/2014/main" id="{42799D15-7B9D-4FB6-9BFE-26E9347E7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2059" y="5048250"/>
            <a:ext cx="65532" cy="76200"/>
          </a:xfrm>
          <a:custGeom xmlns:a="http://schemas.openxmlformats.org/drawingml/2006/main">
            <a:pathLst>
              <a:path w="65532" h="76200">
                <a:moveTo>
                  <a:pt x="32766" y="76200"/>
                </a:moveTo>
                <a:lnTo>
                  <a:pt x="0" y="0"/>
                </a:lnTo>
                <a:lnTo>
                  <a:pt x="65532" y="0"/>
                </a:lnTo>
                <a:close/>
              </a:path>
            </a:pathLst>
          </a:custGeom>
          <a:solidFill xmlns:a="http://schemas.openxmlformats.org/drawingml/2006/main">
            <a:srgbClr val="616773"/>
          </a:solidFill>
          <a:ln xmlns:a="http://schemas.openxmlformats.org/drawingml/2006/main" w="0">
            <a:noFill/>
          </a:ln>
        </p:spPr>
      </p:sp>
      <p:sp>
        <p:nvSpPr>
          <p:cNvPr id="51" name="power-monitor-165">
            <a:extLst xmlns:a="http://schemas.openxmlformats.org/drawingml/2006/main">
              <a:ext uri="{FF2B5EF4-FFF2-40B4-BE49-F238E27FC236}">
                <a16:creationId xmlns:a16="http://schemas.microsoft.com/office/drawing/2014/main" id="{1774D1CE-03B4-4B47-9A4D-75246860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6477000"/>
            <a:ext cx="571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19050">
            <a:solidFill>
              <a:srgbClr val="2F343D"/>
            </a:solidFill>
            <a:prstDash val="solid"/>
          </a:ln>
        </p:spPr>
      </p:sp>
      <p:sp>
        <p:nvSpPr>
          <p:cNvPr id="52" name="power-monitor-screen-166">
            <a:extLst xmlns:a="http://schemas.openxmlformats.org/drawingml/2006/main">
              <a:ext uri="{FF2B5EF4-FFF2-40B4-BE49-F238E27FC236}">
                <a16:creationId xmlns:a16="http://schemas.microsoft.com/office/drawing/2014/main" id="{46232E44-C065-4702-AAD4-AAACC8B2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6553200"/>
            <a:ext cx="361950" cy="180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5C8A5"/>
          </a:solidFill>
          <a:ln xmlns:a="http://schemas.openxmlformats.org/drawingml/2006/main" w="9525">
            <a:solidFill>
              <a:srgbClr val="6C9C70"/>
            </a:solidFill>
            <a:prstDash val="solid"/>
          </a:ln>
        </p:spPr>
      </p:sp>
      <p:sp>
        <p:nvSpPr>
          <p:cNvPr id="53" name="formula-167">
            <a:extLst xmlns:a="http://schemas.openxmlformats.org/drawingml/2006/main">
              <a:ext uri="{FF2B5EF4-FFF2-40B4-BE49-F238E27FC236}">
                <a16:creationId xmlns:a16="http://schemas.microsoft.com/office/drawing/2014/main" id="{85230F6D-1645-4062-A86B-B5A6F57FD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7512" y="6962775"/>
            <a:ext cx="184214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P</a:t>
            </a:r>
            <a:endParaRPr sz="1950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formula-168">
            <a:extLst xmlns:a="http://schemas.openxmlformats.org/drawingml/2006/main">
              <a:ext uri="{FF2B5EF4-FFF2-40B4-BE49-F238E27FC236}">
                <a16:creationId xmlns:a16="http://schemas.microsoft.com/office/drawing/2014/main" id="{22B86546-3D6C-4067-A55B-2E63B701E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2676" y="7049453"/>
            <a:ext cx="153924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36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in</a:t>
            </a:r>
            <a:endParaRPr sz="136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formula-169">
            <a:extLst xmlns:a="http://schemas.openxmlformats.org/drawingml/2006/main">
              <a:ext uri="{FF2B5EF4-FFF2-40B4-BE49-F238E27FC236}">
                <a16:creationId xmlns:a16="http://schemas.microsoft.com/office/drawing/2014/main" id="{BD10395D-4D0B-4FBF-819C-B7D6EF3C1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7550" y="6962775"/>
            <a:ext cx="913638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950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 monitor</a:t>
            </a:r>
            <a:endParaRPr sz="1950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translation-170">
            <a:extLst xmlns:a="http://schemas.openxmlformats.org/drawingml/2006/main">
              <a:ext uri="{FF2B5EF4-FFF2-40B4-BE49-F238E27FC236}">
                <a16:creationId xmlns:a16="http://schemas.microsoft.com/office/drawing/2014/main" id="{AFB3522F-F53C-4857-8A77-7AF2B4AF4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53050"/>
            <a:ext cx="1343025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16773"/>
            </a:solidFill>
            <a:prstDash val="solid"/>
          </a:ln>
        </p:spPr>
      </p:sp>
      <p:sp>
        <p:nvSpPr>
          <p:cNvPr id="57" name="translation-head-171">
            <a:extLst xmlns:a="http://schemas.openxmlformats.org/drawingml/2006/main">
              <a:ext uri="{FF2B5EF4-FFF2-40B4-BE49-F238E27FC236}">
                <a16:creationId xmlns:a16="http://schemas.microsoft.com/office/drawing/2014/main" id="{D7DF4F72-C402-45D6-B8C4-BC7C25B52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5316188"/>
            <a:ext cx="85725" cy="73724"/>
          </a:xfrm>
          <a:custGeom xmlns:a="http://schemas.openxmlformats.org/drawingml/2006/main">
            <a:pathLst>
              <a:path w="85725" h="73724">
                <a:moveTo>
                  <a:pt x="85725" y="36862"/>
                </a:moveTo>
                <a:lnTo>
                  <a:pt x="0" y="737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616773"/>
          </a:solidFill>
          <a:ln xmlns:a="http://schemas.openxmlformats.org/drawingml/2006/main" w="0">
            <a:noFill/>
          </a:ln>
        </p:spPr>
      </p:sp>
      <p:sp>
        <p:nvSpPr>
          <p:cNvPr id="58" name="translation-head-172">
            <a:extLst xmlns:a="http://schemas.openxmlformats.org/drawingml/2006/main">
              <a:ext uri="{FF2B5EF4-FFF2-40B4-BE49-F238E27FC236}">
                <a16:creationId xmlns:a16="http://schemas.microsoft.com/office/drawing/2014/main" id="{3D1074EA-E2D0-468A-AF79-9D0FE483A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5316188"/>
            <a:ext cx="85725" cy="73724"/>
          </a:xfrm>
          <a:custGeom xmlns:a="http://schemas.openxmlformats.org/drawingml/2006/main">
            <a:pathLst>
              <a:path w="85725" h="73724">
                <a:moveTo>
                  <a:pt x="0" y="36862"/>
                </a:moveTo>
                <a:lnTo>
                  <a:pt x="85725" y="0"/>
                </a:lnTo>
                <a:lnTo>
                  <a:pt x="85725" y="73724"/>
                </a:lnTo>
                <a:close/>
              </a:path>
            </a:pathLst>
          </a:custGeom>
          <a:solidFill xmlns:a="http://schemas.openxmlformats.org/drawingml/2006/main">
            <a:srgbClr val="616773"/>
          </a:solidFill>
          <a:ln xmlns:a="http://schemas.openxmlformats.org/drawingml/2006/main" w="0">
            <a:noFill/>
          </a:ln>
        </p:spPr>
      </p:sp>
      <p:sp>
        <p:nvSpPr>
          <p:cNvPr id="59" name="label-173">
            <a:extLst xmlns:a="http://schemas.openxmlformats.org/drawingml/2006/main">
              <a:ext uri="{FF2B5EF4-FFF2-40B4-BE49-F238E27FC236}">
                <a16:creationId xmlns:a16="http://schemas.microsoft.com/office/drawing/2014/main" id="{1D9BC743-B037-4F06-B8AA-380FDD58B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5591175"/>
            <a:ext cx="3105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0" i="0">
                <a:solidFill>
                  <a:srgbClr val="616773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616773"/>
                </a:solidFill>
                <a:latin typeface="Arial"/>
                <a:ea typeface="Arial"/>
                <a:cs typeface="Arial"/>
              </a:rPr>
              <a:t>translated imaging head</a:t>
            </a:r>
            <a:endParaRPr sz="1875" b="0" i="0">
              <a:solidFill>
                <a:srgbClr val="6167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label-174">
            <a:extLst xmlns:a="http://schemas.openxmlformats.org/drawingml/2006/main">
              <a:ext uri="{FF2B5EF4-FFF2-40B4-BE49-F238E27FC236}">
                <a16:creationId xmlns:a16="http://schemas.microsoft.com/office/drawing/2014/main" id="{8C641186-1208-4CA8-B3A5-7366FA18A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7677150"/>
            <a:ext cx="13449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00" b="1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Simultaneous full-frame counts; the moving ROI is applied digitally.</a:t>
            </a:r>
            <a:endParaRPr sz="2100" b="1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analyzer-angle-1161">
            <a:extLst xmlns:a="http://schemas.openxmlformats.org/drawingml/2006/main">
              <a:ext uri="{FF2B5EF4-FFF2-40B4-BE49-F238E27FC236}">
                <a16:creationId xmlns:a16="http://schemas.microsoft.com/office/drawing/2014/main" id="{F413E24E-A8E1-43C4-B75C-5FC685189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572000"/>
            <a:ext cx="2571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7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7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fast axis 45°</a:t>
            </a:r>
          </a:p>
        </p:txBody>
      </p:sp>
      <p:sp>
        <p:nvSpPr>
          <p:cNvPr id="63" name="analyzer-axis-reference-1162">
            <a:extLst xmlns:a="http://schemas.openxmlformats.org/drawingml/2006/main">
              <a:ext uri="{FF2B5EF4-FFF2-40B4-BE49-F238E27FC236}">
                <a16:creationId xmlns:a16="http://schemas.microsoft.com/office/drawing/2014/main" id="{BB292F05-608A-4434-929C-3ACD97C71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867275"/>
            <a:ext cx="28575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relative to PBS₃ H axis</a:t>
            </a:r>
          </a:p>
        </p:txBody>
      </p:sp>
      <p:sp>
        <p:nvSpPr>
          <p:cNvPr id="64" name="analyzer-calibration-1163">
            <a:extLst xmlns:a="http://schemas.openxmlformats.org/drawingml/2006/main">
              <a:ext uri="{FF2B5EF4-FFF2-40B4-BE49-F238E27FC236}">
                <a16:creationId xmlns:a16="http://schemas.microsoft.com/office/drawing/2014/main" id="{176354A2-DF65-412E-AF52-FEF5CFFE6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7153275"/>
            <a:ext cx="64198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650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Calibrate circular-port signs, gain and leakage.</a:t>
            </a:r>
          </a:p>
        </p:txBody>
      </p:sp>
    </p:spTree>
    <p:extLst>
      <p:ext uri="{BB962C8B-B14F-4D97-AF65-F5344CB8AC3E}">
        <p14:creationId xmlns:p14="http://schemas.microsoft.com/office/powerpoint/2010/main" val="19586206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8" name="figure-frame-175">
            <a:extLst xmlns:a="http://schemas.openxmlformats.org/drawingml/2006/main">
              <a:ext uri="{FF2B5EF4-FFF2-40B4-BE49-F238E27FC236}">
                <a16:creationId xmlns:a16="http://schemas.microsoft.com/office/drawing/2014/main" id="{0D5376F3-A694-4F36-8740-7CE1C93A1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190500"/>
            <a:ext cx="14668500" cy="817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A7A9AC"/>
            </a:solidFill>
            <a:prstDash val="solid"/>
          </a:ln>
        </p:spPr>
      </p:sp>
      <p:sp>
        <p:nvSpPr>
          <p:cNvPr id="2" name="panel-176">
            <a:extLst xmlns:a="http://schemas.openxmlformats.org/drawingml/2006/main">
              <a:ext uri="{FF2B5EF4-FFF2-40B4-BE49-F238E27FC236}">
                <a16:creationId xmlns:a16="http://schemas.microsoft.com/office/drawing/2014/main" id="{E8F73D2A-197A-4626-9F1E-024F48B69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3375"/>
            <a:ext cx="381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300" b="1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3300" b="1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c</a:t>
            </a:r>
            <a:endParaRPr sz="3300" b="1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" name="title-177">
            <a:extLst xmlns:a="http://schemas.openxmlformats.org/drawingml/2006/main">
              <a:ext uri="{FF2B5EF4-FFF2-40B4-BE49-F238E27FC236}">
                <a16:creationId xmlns:a16="http://schemas.microsoft.com/office/drawing/2014/main" id="{19DF339A-A584-4B1D-896C-31C1FF51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3375"/>
            <a:ext cx="13716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50" b="1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From two count images to the axial event</a:t>
            </a:r>
            <a:endParaRPr sz="3150" b="1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raw-counts-178">
            <a:extLst xmlns:a="http://schemas.openxmlformats.org/drawingml/2006/main">
              <a:ext uri="{FF2B5EF4-FFF2-40B4-BE49-F238E27FC236}">
                <a16:creationId xmlns:a16="http://schemas.microsoft.com/office/drawing/2014/main" id="{14927AC6-2432-4B3C-B93D-09FB6A94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581150"/>
            <a:ext cx="33718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616773"/>
            </a:solidFill>
            <a:prstDash val="solid"/>
          </a:ln>
        </p:spPr>
      </p:sp>
      <p:sp>
        <p:nvSpPr>
          <p:cNvPr id="5" name="calibration-179">
            <a:extLst xmlns:a="http://schemas.openxmlformats.org/drawingml/2006/main">
              <a:ext uri="{FF2B5EF4-FFF2-40B4-BE49-F238E27FC236}">
                <a16:creationId xmlns:a16="http://schemas.microsoft.com/office/drawing/2014/main" id="{D3DF9E7D-3971-428C-8F4B-524043FA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1581150"/>
            <a:ext cx="43053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616773"/>
            </a:solidFill>
            <a:prstDash val="solid"/>
          </a:ln>
        </p:spPr>
      </p:sp>
      <p:sp>
        <p:nvSpPr>
          <p:cNvPr id="6" name="moving-roi-180">
            <a:extLst xmlns:a="http://schemas.openxmlformats.org/drawingml/2006/main">
              <a:ext uri="{FF2B5EF4-FFF2-40B4-BE49-F238E27FC236}">
                <a16:creationId xmlns:a16="http://schemas.microsoft.com/office/drawing/2014/main" id="{6BE045F7-20A2-4C91-9AC1-6F603095A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1581150"/>
            <a:ext cx="42481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616773"/>
            </a:solidFill>
            <a:prstDash val="solid"/>
          </a:ln>
        </p:spPr>
      </p:sp>
      <p:sp>
        <p:nvSpPr>
          <p:cNvPr id="7" name="count-relations-181">
            <a:extLst xmlns:a="http://schemas.openxmlformats.org/drawingml/2006/main">
              <a:ext uri="{FF2B5EF4-FFF2-40B4-BE49-F238E27FC236}">
                <a16:creationId xmlns:a16="http://schemas.microsoft.com/office/drawing/2014/main" id="{CBFD35D3-B63B-42CE-AB6F-07B1278C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82225" y="4057650"/>
            <a:ext cx="4248150" cy="1704975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00A58F"/>
            </a:solidFill>
            <a:prstDash val="solid"/>
          </a:ln>
        </p:spPr>
      </p:sp>
      <p:sp>
        <p:nvSpPr>
          <p:cNvPr id="8" name="event-definition-182">
            <a:extLst xmlns:a="http://schemas.openxmlformats.org/drawingml/2006/main">
              <a:ext uri="{FF2B5EF4-FFF2-40B4-BE49-F238E27FC236}">
                <a16:creationId xmlns:a16="http://schemas.microsoft.com/office/drawing/2014/main" id="{BD14D6FD-CC9D-4443-860D-FCC74135C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4057650"/>
            <a:ext cx="4305300" cy="1704975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616773"/>
            </a:solidFill>
            <a:prstDash val="solid"/>
          </a:ln>
        </p:spPr>
      </p:sp>
      <p:sp>
        <p:nvSpPr>
          <p:cNvPr id="9" name="axial-event-183">
            <a:extLst xmlns:a="http://schemas.openxmlformats.org/drawingml/2006/main">
              <a:ext uri="{FF2B5EF4-FFF2-40B4-BE49-F238E27FC236}">
                <a16:creationId xmlns:a16="http://schemas.microsoft.com/office/drawing/2014/main" id="{92A9DBA6-5B01-4411-9818-487FD25FF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057650"/>
            <a:ext cx="3371850" cy="1704975"/>
          </a:xfrm>
          <a:prstGeom xmlns:a="http://schemas.openxmlformats.org/drawingml/2006/main" prst="roundRect">
            <a:avLst>
              <a:gd name="adj" fmla="val 446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22860">
            <a:solidFill>
              <a:srgbClr val="7548A5"/>
            </a:solidFill>
            <a:prstDash val="solid"/>
          </a:ln>
        </p:spPr>
      </p:sp>
      <p:cxnSp>
        <p:nvCxnSpPr>
          <p:cNvPr id="105" name="直接箭头连接符 76"/>
          <p:cNvCxnSpPr>
            <a:stCxn xmlns:a="http://schemas.openxmlformats.org/drawingml/2006/main" id="4" idx="3"/>
            <a:endCxn xmlns:a="http://schemas.openxmlformats.org/drawingml/2006/main" id="5" idx="1"/>
          </p:cNvCxnSpPr>
          <p:nvPr/>
        </p:nvCxnSpPr>
        <p:spPr>
          <a:xfrm xmlns:a="http://schemas.openxmlformats.org/drawingml/2006/main">
            <a:off x="4181475" y="229552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343D"/>
            </a:solidFill>
            <a:prstDash val="solid"/>
            <a:tailEnd type="triangle" w="med" len="med"/>
          </a:ln>
        </p:spPr>
      </p:cxnSp>
      <p:cxnSp>
        <p:nvCxnSpPr>
          <p:cNvPr id="106" name="直接箭头连接符 77"/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9334500" y="2295525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343D"/>
            </a:solidFill>
            <a:prstDash val="solid"/>
            <a:tailEnd type="triangle" w="med" len="med"/>
          </a:ln>
        </p:spPr>
      </p:cxnSp>
      <p:cxnSp>
        <p:nvCxnSpPr>
          <p:cNvPr id="107" name="直接箭头连接符 78"/>
          <p:cNvCxnSpPr>
            <a:stCxn xmlns:a="http://schemas.openxmlformats.org/drawingml/2006/main" id="6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>
            <a:off x="12306300" y="3009900"/>
            <a:ext cx="0" cy="104775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343D"/>
            </a:solidFill>
            <a:prstDash val="solid"/>
            <a:tailEnd type="triangle" w="med" len="med"/>
          </a:ln>
        </p:spPr>
      </p:cxnSp>
      <p:cxnSp>
        <p:nvCxnSpPr>
          <p:cNvPr id="108" name="直接箭头连接符 79"/>
          <p:cNvCxnSpPr>
            <a:stCxn xmlns:a="http://schemas.openxmlformats.org/drawingml/2006/main" id="7" idx="1"/>
            <a:endCxn xmlns:a="http://schemas.openxmlformats.org/drawingml/2006/main" id="8" idx="3"/>
          </p:cNvCxnSpPr>
          <p:nvPr/>
        </p:nvCxnSpPr>
        <p:spPr>
          <a:xfrm xmlns:a="http://schemas.openxmlformats.org/drawingml/2006/main" flipH="1">
            <a:off x="9334500" y="4910138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343D"/>
            </a:solidFill>
            <a:prstDash val="solid"/>
            <a:tailEnd type="triangle" w="med" len="med"/>
          </a:ln>
        </p:spPr>
      </p:cxnSp>
      <p:cxnSp>
        <p:nvCxnSpPr>
          <p:cNvPr id="109" name="直接箭头连接符 80"/>
          <p:cNvCxnSpPr>
            <a:stCxn xmlns:a="http://schemas.openxmlformats.org/drawingml/2006/main" id="8" idx="1"/>
            <a:endCxn xmlns:a="http://schemas.openxmlformats.org/drawingml/2006/main" id="9" idx="3"/>
          </p:cNvCxnSpPr>
          <p:nvPr/>
        </p:nvCxnSpPr>
        <p:spPr>
          <a:xfrm xmlns:a="http://schemas.openxmlformats.org/drawingml/2006/main" flipH="1">
            <a:off x="4181475" y="4910138"/>
            <a:ext cx="847725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2F343D"/>
            </a:solidFill>
            <a:prstDash val="solid"/>
            <a:tailEnd type="triangle" w="med" len="med"/>
          </a:ln>
        </p:spPr>
      </p:cxnSp>
      <p:sp>
        <p:nvSpPr>
          <p:cNvPr id="15" name="label-184">
            <a:extLst xmlns:a="http://schemas.openxmlformats.org/drawingml/2006/main">
              <a:ext uri="{FF2B5EF4-FFF2-40B4-BE49-F238E27FC236}">
                <a16:creationId xmlns:a16="http://schemas.microsoft.com/office/drawing/2014/main" id="{DB8E411C-FD74-4B49-BA1F-1B4A4F51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752600"/>
            <a:ext cx="30861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raw counts</a:t>
            </a:r>
            <a:endParaRPr sz="23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formula-185">
            <a:extLst xmlns:a="http://schemas.openxmlformats.org/drawingml/2006/main">
              <a:ext uri="{FF2B5EF4-FFF2-40B4-BE49-F238E27FC236}">
                <a16:creationId xmlns:a16="http://schemas.microsoft.com/office/drawing/2014/main" id="{1B036FED-0CA8-43FD-B5AA-0AFE73E9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541" y="2352675"/>
            <a:ext cx="232315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C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formula-186">
            <a:extLst xmlns:a="http://schemas.openxmlformats.org/drawingml/2006/main">
              <a:ext uri="{FF2B5EF4-FFF2-40B4-BE49-F238E27FC236}">
                <a16:creationId xmlns:a16="http://schemas.microsoft.com/office/drawing/2014/main" id="{DAD4CC2F-A842-45C7-A650-360A7A6E7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1805" y="2456021"/>
            <a:ext cx="139732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+</a:t>
            </a:r>
            <a:endParaRPr sz="16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formula-187">
            <a:extLst xmlns:a="http://schemas.openxmlformats.org/drawingml/2006/main">
              <a:ext uri="{FF2B5EF4-FFF2-40B4-BE49-F238E27FC236}">
                <a16:creationId xmlns:a16="http://schemas.microsoft.com/office/drawing/2014/main" id="{64612137-A1B9-476E-98EB-42C664C47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2487" y="2352675"/>
            <a:ext cx="478441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,  C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formula-188">
            <a:extLst xmlns:a="http://schemas.openxmlformats.org/drawingml/2006/main">
              <a:ext uri="{FF2B5EF4-FFF2-40B4-BE49-F238E27FC236}">
                <a16:creationId xmlns:a16="http://schemas.microsoft.com/office/drawing/2014/main" id="{2F290B07-04E2-4EFE-92BD-E7B35E4A8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1878" y="2456021"/>
            <a:ext cx="139732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−</a:t>
            </a:r>
            <a:endParaRPr sz="16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positive-count-icon-189">
            <a:extLst xmlns:a="http://schemas.openxmlformats.org/drawingml/2006/main">
              <a:ext uri="{FF2B5EF4-FFF2-40B4-BE49-F238E27FC236}">
                <a16:creationId xmlns:a16="http://schemas.microsoft.com/office/drawing/2014/main" id="{4CC5CA00-ECF4-4B5C-98FD-AFA6BE721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219450"/>
            <a:ext cx="381000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9A3CB"/>
          </a:solidFill>
          <a:ln xmlns:a="http://schemas.openxmlformats.org/drawingml/2006/main" w="14288">
            <a:solidFill>
              <a:srgbClr val="5D6470"/>
            </a:solidFill>
          </a:ln>
        </p:spPr>
      </p:sp>
      <p:sp>
        <p:nvSpPr>
          <p:cNvPr id="21" name="negative-count-icon-190">
            <a:extLst xmlns:a="http://schemas.openxmlformats.org/drawingml/2006/main">
              <a:ext uri="{FF2B5EF4-FFF2-40B4-BE49-F238E27FC236}">
                <a16:creationId xmlns:a16="http://schemas.microsoft.com/office/drawing/2014/main" id="{C1B72531-D308-4CF1-86E5-DC92D26D2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219450"/>
            <a:ext cx="381000" cy="2762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F964E"/>
          </a:solidFill>
          <a:ln xmlns:a="http://schemas.openxmlformats.org/drawingml/2006/main" w="14288">
            <a:solidFill>
              <a:srgbClr val="5D6470"/>
            </a:solidFill>
          </a:ln>
        </p:spPr>
      </p:sp>
      <p:sp>
        <p:nvSpPr>
          <p:cNvPr id="22" name="label-191">
            <a:extLst xmlns:a="http://schemas.openxmlformats.org/drawingml/2006/main">
              <a:ext uri="{FF2B5EF4-FFF2-40B4-BE49-F238E27FC236}">
                <a16:creationId xmlns:a16="http://schemas.microsoft.com/office/drawing/2014/main" id="{C16381B6-0E93-4FDF-BE73-1645B285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975" y="31813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+</a:t>
            </a:r>
            <a:endParaRPr sz="1875" b="1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label-192">
            <a:extLst xmlns:a="http://schemas.openxmlformats.org/drawingml/2006/main">
              <a:ext uri="{FF2B5EF4-FFF2-40B4-BE49-F238E27FC236}">
                <a16:creationId xmlns:a16="http://schemas.microsoft.com/office/drawing/2014/main" id="{931B4622-466A-4175-8D5A-CB14D2083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3181350"/>
            <a:ext cx="304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−</a:t>
            </a:r>
            <a:endParaRPr sz="1875" b="1" i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label-193">
            <a:extLst xmlns:a="http://schemas.openxmlformats.org/drawingml/2006/main">
              <a:ext uri="{FF2B5EF4-FFF2-40B4-BE49-F238E27FC236}">
                <a16:creationId xmlns:a16="http://schemas.microsoft.com/office/drawing/2014/main" id="{1C3CC6F1-B33C-4B76-9E29-CA1525B0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1695450"/>
            <a:ext cx="39243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dark / flat / gain</a:t>
            </a:r>
            <a:endParaRPr sz="217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217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leakage</a:t>
            </a:r>
            <a:endParaRPr sz="217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217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17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registration</a:t>
            </a:r>
            <a:endParaRPr sz="217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label-194">
            <a:extLst xmlns:a="http://schemas.openxmlformats.org/drawingml/2006/main">
              <a:ext uri="{FF2B5EF4-FFF2-40B4-BE49-F238E27FC236}">
                <a16:creationId xmlns:a16="http://schemas.microsoft.com/office/drawing/2014/main" id="{69B3910F-0C28-4CBA-8DB6-444396199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53675" y="1752600"/>
            <a:ext cx="3905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3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same moving ROI</a:t>
            </a:r>
            <a:endParaRPr sz="23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" name="formula-195">
            <a:extLst xmlns:a="http://schemas.openxmlformats.org/drawingml/2006/main">
              <a:ext uri="{FF2B5EF4-FFF2-40B4-BE49-F238E27FC236}">
                <a16:creationId xmlns:a16="http://schemas.microsoft.com/office/drawing/2014/main" id="{3557AC33-FD58-4BAE-9D12-84849E4D1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0326" y="2352675"/>
            <a:ext cx="683419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ρ ≤ ρ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formula-196">
            <a:extLst xmlns:a="http://schemas.openxmlformats.org/drawingml/2006/main">
              <a:ext uri="{FF2B5EF4-FFF2-40B4-BE49-F238E27FC236}">
                <a16:creationId xmlns:a16="http://schemas.microsoft.com/office/drawing/2014/main" id="{9F3B01AD-9132-4550-8E1C-0FC05980C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14694" y="2456021"/>
            <a:ext cx="122301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s</a:t>
            </a:r>
            <a:endParaRPr sz="16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formula-197">
            <a:extLst xmlns:a="http://schemas.openxmlformats.org/drawingml/2006/main">
              <a:ext uri="{FF2B5EF4-FFF2-40B4-BE49-F238E27FC236}">
                <a16:creationId xmlns:a16="http://schemas.microsoft.com/office/drawing/2014/main" id="{CAEA3625-DBB2-4305-AAB4-806635774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17945" y="2352675"/>
            <a:ext cx="363379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(z)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formula-198">
            <a:extLst xmlns:a="http://schemas.openxmlformats.org/drawingml/2006/main">
              <a:ext uri="{FF2B5EF4-FFF2-40B4-BE49-F238E27FC236}">
                <a16:creationId xmlns:a16="http://schemas.microsoft.com/office/drawing/2014/main" id="{D1EFE821-1AB5-4A42-B5AC-5F043F41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00528" y="4257675"/>
            <a:ext cx="562737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Q = I</a:t>
            </a:r>
            <a:endParaRPr sz="1950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formula-199">
            <a:extLst xmlns:a="http://schemas.openxmlformats.org/drawingml/2006/main">
              <a:ext uri="{FF2B5EF4-FFF2-40B4-BE49-F238E27FC236}">
                <a16:creationId xmlns:a16="http://schemas.microsoft.com/office/drawing/2014/main" id="{F5E1DF18-1A03-4C7C-99C3-CF23CF0AA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44215" y="4344353"/>
            <a:ext cx="120205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36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+</a:t>
            </a:r>
            <a:endParaRPr sz="136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formula-200">
            <a:extLst xmlns:a="http://schemas.openxmlformats.org/drawingml/2006/main">
              <a:ext uri="{FF2B5EF4-FFF2-40B4-BE49-F238E27FC236}">
                <a16:creationId xmlns:a16="http://schemas.microsoft.com/office/drawing/2014/main" id="{D6F09722-CE43-4B89-9D6F-27C34630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45370" y="4257675"/>
            <a:ext cx="370046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 − I</a:t>
            </a:r>
            <a:endParaRPr sz="1950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formula-201">
            <a:extLst xmlns:a="http://schemas.openxmlformats.org/drawingml/2006/main">
              <a:ext uri="{FF2B5EF4-FFF2-40B4-BE49-F238E27FC236}">
                <a16:creationId xmlns:a16="http://schemas.microsoft.com/office/drawing/2014/main" id="{7E653734-6CA9-4D1F-A546-A9E98C96A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367" y="4344353"/>
            <a:ext cx="120205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36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−</a:t>
            </a:r>
            <a:endParaRPr sz="136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formula-202">
            <a:extLst xmlns:a="http://schemas.openxmlformats.org/drawingml/2006/main">
              <a:ext uri="{FF2B5EF4-FFF2-40B4-BE49-F238E27FC236}">
                <a16:creationId xmlns:a16="http://schemas.microsoft.com/office/drawing/2014/main" id="{3954CC2E-4E05-4496-9C8E-2718CB5F6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5747" y="4257675"/>
            <a:ext cx="521399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T = I</a:t>
            </a:r>
            <a:endParaRPr sz="1950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formula-203">
            <a:extLst xmlns:a="http://schemas.openxmlformats.org/drawingml/2006/main">
              <a:ext uri="{FF2B5EF4-FFF2-40B4-BE49-F238E27FC236}">
                <a16:creationId xmlns:a16="http://schemas.microsoft.com/office/drawing/2014/main" id="{B52A1DD5-8598-4182-AE4B-713AD268A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8096" y="4344353"/>
            <a:ext cx="120205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36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+</a:t>
            </a:r>
            <a:endParaRPr sz="136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formula-204">
            <a:extLst xmlns:a="http://schemas.openxmlformats.org/drawingml/2006/main">
              <a:ext uri="{FF2B5EF4-FFF2-40B4-BE49-F238E27FC236}">
                <a16:creationId xmlns:a16="http://schemas.microsoft.com/office/drawing/2014/main" id="{0BFC1178-7F9B-44F7-BB7C-A33879B9C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9251" y="4257675"/>
            <a:ext cx="370046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950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 + I</a:t>
            </a:r>
            <a:endParaRPr sz="1950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formula-205">
            <a:extLst xmlns:a="http://schemas.openxmlformats.org/drawingml/2006/main">
              <a:ext uri="{FF2B5EF4-FFF2-40B4-BE49-F238E27FC236}">
                <a16:creationId xmlns:a16="http://schemas.microsoft.com/office/drawing/2014/main" id="{7B1F7054-EC7C-4323-892D-5FD234429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90247" y="4344353"/>
            <a:ext cx="120205" cy="2600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6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36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−</a:t>
            </a:r>
            <a:endParaRPr sz="136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formula-206">
            <a:extLst xmlns:a="http://schemas.openxmlformats.org/drawingml/2006/main">
              <a:ext uri="{FF2B5EF4-FFF2-40B4-BE49-F238E27FC236}">
                <a16:creationId xmlns:a16="http://schemas.microsoft.com/office/drawing/2014/main" id="{3960419E-EB49-4E92-BF84-9FCDAEAD0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2469" y="4781550"/>
            <a:ext cx="183261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p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formula-overbar-207">
            <a:extLst xmlns:a="http://schemas.openxmlformats.org/drawingml/2006/main">
              <a:ext uri="{FF2B5EF4-FFF2-40B4-BE49-F238E27FC236}">
                <a16:creationId xmlns:a16="http://schemas.microsoft.com/office/drawing/2014/main" id="{E7120729-5505-41F8-97A4-B2D3CD04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1994" y="4878991"/>
            <a:ext cx="145161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343D"/>
            </a:solidFill>
            <a:prstDash val="solid"/>
          </a:ln>
        </p:spPr>
      </p:sp>
      <p:sp>
        <p:nvSpPr>
          <p:cNvPr id="39" name="formula-208">
            <a:extLst xmlns:a="http://schemas.openxmlformats.org/drawingml/2006/main">
              <a:ext uri="{FF2B5EF4-FFF2-40B4-BE49-F238E27FC236}">
                <a16:creationId xmlns:a16="http://schemas.microsoft.com/office/drawing/2014/main" id="{40BC7064-6F1D-4154-9123-9BD450B0F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16680" y="4884896"/>
            <a:ext cx="133922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3</a:t>
            </a:r>
            <a:endParaRPr sz="16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formula-209">
            <a:extLst xmlns:a="http://schemas.openxmlformats.org/drawingml/2006/main">
              <a:ext uri="{FF2B5EF4-FFF2-40B4-BE49-F238E27FC236}">
                <a16:creationId xmlns:a16="http://schemas.microsoft.com/office/drawing/2014/main" id="{F59FBDE5-781F-42F0-802F-0BA43E7DF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31551" y="4781550"/>
            <a:ext cx="847630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 = Q/T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formula-210">
            <a:extLst xmlns:a="http://schemas.openxmlformats.org/drawingml/2006/main">
              <a:ext uri="{FF2B5EF4-FFF2-40B4-BE49-F238E27FC236}">
                <a16:creationId xmlns:a16="http://schemas.microsoft.com/office/drawing/2014/main" id="{45FA923C-C03E-48E1-B0EB-0697591B8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3474" y="5238750"/>
            <a:ext cx="765619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Q = T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formula-211">
            <a:extLst xmlns:a="http://schemas.openxmlformats.org/drawingml/2006/main">
              <a:ext uri="{FF2B5EF4-FFF2-40B4-BE49-F238E27FC236}">
                <a16:creationId xmlns:a16="http://schemas.microsoft.com/office/drawing/2014/main" id="{0357AAD4-58C0-458A-BBAE-6AD2ED5A5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0043" y="5238750"/>
            <a:ext cx="183261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p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formula-overbar-212">
            <a:extLst xmlns:a="http://schemas.openxmlformats.org/drawingml/2006/main">
              <a:ext uri="{FF2B5EF4-FFF2-40B4-BE49-F238E27FC236}">
                <a16:creationId xmlns:a16="http://schemas.microsoft.com/office/drawing/2014/main" id="{AFC0D8A0-DAD7-42BA-9FB4-F1CA7C208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49568" y="5336191"/>
            <a:ext cx="145161" cy="4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1430">
            <a:solidFill>
              <a:srgbClr val="2F343D"/>
            </a:solidFill>
            <a:prstDash val="solid"/>
          </a:ln>
        </p:spPr>
      </p:sp>
      <p:sp>
        <p:nvSpPr>
          <p:cNvPr id="44" name="formula-213">
            <a:extLst xmlns:a="http://schemas.openxmlformats.org/drawingml/2006/main">
              <a:ext uri="{FF2B5EF4-FFF2-40B4-BE49-F238E27FC236}">
                <a16:creationId xmlns:a16="http://schemas.microsoft.com/office/drawing/2014/main" id="{0DC5C66C-E443-4DB7-890A-C3622B39D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04254" y="5342096"/>
            <a:ext cx="133922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3</a:t>
            </a:r>
            <a:endParaRPr sz="16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label-214">
            <a:extLst xmlns:a="http://schemas.openxmlformats.org/drawingml/2006/main">
              <a:ext uri="{FF2B5EF4-FFF2-40B4-BE49-F238E27FC236}">
                <a16:creationId xmlns:a16="http://schemas.microsoft.com/office/drawing/2014/main" id="{89605F4E-EBAC-4291-A095-830666B9B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4181475"/>
            <a:ext cx="3924300" cy="1362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400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first stationary</a:t>
            </a:r>
            <a:endParaRPr sz="2400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2400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peak + rising</a:t>
            </a:r>
            <a:endParaRPr sz="2400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2400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400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half-height</a:t>
            </a:r>
            <a:endParaRPr sz="2400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formula-215">
            <a:extLst xmlns:a="http://schemas.openxmlformats.org/drawingml/2006/main">
              <a:ext uri="{FF2B5EF4-FFF2-40B4-BE49-F238E27FC236}">
                <a16:creationId xmlns:a16="http://schemas.microsoft.com/office/drawing/2014/main" id="{4CDDF760-061D-4F09-A87C-5D7D028EC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5546" y="4191000"/>
            <a:ext cx="166688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z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formula-216">
            <a:extLst xmlns:a="http://schemas.openxmlformats.org/drawingml/2006/main">
              <a:ext uri="{FF2B5EF4-FFF2-40B4-BE49-F238E27FC236}">
                <a16:creationId xmlns:a16="http://schemas.microsoft.com/office/drawing/2014/main" id="{BF59B5B0-4547-4019-969B-691A2324D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3184" y="4294346"/>
            <a:ext cx="248793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50</a:t>
            </a:r>
            <a:endParaRPr sz="16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formula-217">
            <a:extLst xmlns:a="http://schemas.openxmlformats.org/drawingml/2006/main">
              <a:ext uri="{FF2B5EF4-FFF2-40B4-BE49-F238E27FC236}">
                <a16:creationId xmlns:a16="http://schemas.microsoft.com/office/drawing/2014/main" id="{EB3E2AC0-9548-458C-825E-53491FBF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2927" y="4191000"/>
            <a:ext cx="461677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(m)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formula-218">
            <a:extLst xmlns:a="http://schemas.openxmlformats.org/drawingml/2006/main">
              <a:ext uri="{FF2B5EF4-FFF2-40B4-BE49-F238E27FC236}">
                <a16:creationId xmlns:a16="http://schemas.microsoft.com/office/drawing/2014/main" id="{CC4EB021-14E2-4831-8D01-33D9F2D39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9359" y="4657725"/>
            <a:ext cx="364807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Δz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formula-219">
            <a:extLst xmlns:a="http://schemas.openxmlformats.org/drawingml/2006/main">
              <a:ext uri="{FF2B5EF4-FFF2-40B4-BE49-F238E27FC236}">
                <a16:creationId xmlns:a16="http://schemas.microsoft.com/office/drawing/2014/main" id="{381BDD8F-71B0-4D5E-8D77-76DEED07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5116" y="4761071"/>
            <a:ext cx="191167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m</a:t>
            </a:r>
            <a:endParaRPr sz="16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formula-220">
            <a:extLst xmlns:a="http://schemas.openxmlformats.org/drawingml/2006/main">
              <a:ext uri="{FF2B5EF4-FFF2-40B4-BE49-F238E27FC236}">
                <a16:creationId xmlns:a16="http://schemas.microsoft.com/office/drawing/2014/main" id="{143C45B4-0B0F-4B00-BD24-36B874DC8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7233" y="4657725"/>
            <a:ext cx="273558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 =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formula-221">
            <a:extLst xmlns:a="http://schemas.openxmlformats.org/drawingml/2006/main">
              <a:ext uri="{FF2B5EF4-FFF2-40B4-BE49-F238E27FC236}">
                <a16:creationId xmlns:a16="http://schemas.microsoft.com/office/drawing/2014/main" id="{B42576D7-C471-4959-A9D8-9A5858FED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8146" y="5181600"/>
            <a:ext cx="166688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z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formula-222">
            <a:extLst xmlns:a="http://schemas.openxmlformats.org/drawingml/2006/main">
              <a:ext uri="{FF2B5EF4-FFF2-40B4-BE49-F238E27FC236}">
                <a16:creationId xmlns:a16="http://schemas.microsoft.com/office/drawing/2014/main" id="{EDFA2C8D-6879-4183-9639-28FB20A3B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783" y="5284946"/>
            <a:ext cx="248793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50</a:t>
            </a:r>
            <a:endParaRPr sz="16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formula-223">
            <a:extLst xmlns:a="http://schemas.openxmlformats.org/drawingml/2006/main">
              <a:ext uri="{FF2B5EF4-FFF2-40B4-BE49-F238E27FC236}">
                <a16:creationId xmlns:a16="http://schemas.microsoft.com/office/drawing/2014/main" id="{50882946-7964-44C2-B7EF-1AF224E53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5526" y="5181600"/>
            <a:ext cx="864108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(1) − z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formula-224">
            <a:extLst xmlns:a="http://schemas.openxmlformats.org/drawingml/2006/main">
              <a:ext uri="{FF2B5EF4-FFF2-40B4-BE49-F238E27FC236}">
                <a16:creationId xmlns:a16="http://schemas.microsoft.com/office/drawing/2014/main" id="{69CCC0D7-8172-4AA0-94E9-64FBDEE8B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0584" y="5284946"/>
            <a:ext cx="248793" cy="31003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6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50</a:t>
            </a:r>
            <a:endParaRPr sz="16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formula-225">
            <a:extLst xmlns:a="http://schemas.openxmlformats.org/drawingml/2006/main">
              <a:ext uri="{FF2B5EF4-FFF2-40B4-BE49-F238E27FC236}">
                <a16:creationId xmlns:a16="http://schemas.microsoft.com/office/drawing/2014/main" id="{2FFEAB40-99C6-4109-A6B9-F5DF0A740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27" y="5181600"/>
            <a:ext cx="461677" cy="44291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3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(m)</a:t>
            </a:r>
            <a:endParaRPr sz="23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formula-226">
            <a:extLst xmlns:a="http://schemas.openxmlformats.org/drawingml/2006/main">
              <a:ext uri="{FF2B5EF4-FFF2-40B4-BE49-F238E27FC236}">
                <a16:creationId xmlns:a16="http://schemas.microsoft.com/office/drawing/2014/main" id="{A24E73F1-F855-4B7B-94B5-DBBECB023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2961" y="6353175"/>
            <a:ext cx="819340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Proxy: </a:t>
            </a:r>
            <a:endParaRPr sz="20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formula-227">
            <a:extLst xmlns:a="http://schemas.openxmlformats.org/drawingml/2006/main">
              <a:ext uri="{FF2B5EF4-FFF2-40B4-BE49-F238E27FC236}">
                <a16:creationId xmlns:a16="http://schemas.microsoft.com/office/drawing/2014/main" id="{4C6A0F4A-2FBB-406D-ADF4-272C60567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3252" y="6353175"/>
            <a:ext cx="14763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x</a:t>
            </a:r>
            <a:endParaRPr sz="20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" name="formula-228">
            <a:extLst xmlns:a="http://schemas.openxmlformats.org/drawingml/2006/main">
              <a:ext uri="{FF2B5EF4-FFF2-40B4-BE49-F238E27FC236}">
                <a16:creationId xmlns:a16="http://schemas.microsoft.com/office/drawing/2014/main" id="{C3BFE93A-A41B-40CD-A757-1571F90DA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839" y="6443186"/>
            <a:ext cx="109061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0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s</a:t>
            </a:r>
            <a:endParaRPr sz="1420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" name="formula-229">
            <a:extLst xmlns:a="http://schemas.openxmlformats.org/drawingml/2006/main">
              <a:ext uri="{FF2B5EF4-FFF2-40B4-BE49-F238E27FC236}">
                <a16:creationId xmlns:a16="http://schemas.microsoft.com/office/drawing/2014/main" id="{8C6F0ACE-EFA9-4030-B9EF-0C12313FC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1851" y="6353175"/>
            <a:ext cx="417481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 = j′</a:t>
            </a:r>
            <a:endParaRPr sz="20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" name="formula-230">
            <a:extLst xmlns:a="http://schemas.openxmlformats.org/drawingml/2006/main">
              <a:ext uri="{FF2B5EF4-FFF2-40B4-BE49-F238E27FC236}">
                <a16:creationId xmlns:a16="http://schemas.microsoft.com/office/drawing/2014/main" id="{C31101A7-447A-4ACE-910D-DDE5ECB13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0281" y="6443186"/>
            <a:ext cx="318992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0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m,1</a:t>
            </a:r>
            <a:endParaRPr sz="1420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" name="formula-231">
            <a:extLst xmlns:a="http://schemas.openxmlformats.org/drawingml/2006/main">
              <a:ext uri="{FF2B5EF4-FFF2-40B4-BE49-F238E27FC236}">
                <a16:creationId xmlns:a16="http://schemas.microsoft.com/office/drawing/2014/main" id="{327DBC66-E5D8-4035-97FA-E0EE44AC8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0224" y="6353175"/>
            <a:ext cx="3321558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; actual boundary: calibrated </a:t>
            </a:r>
            <a:endParaRPr sz="20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" name="formula-232">
            <a:extLst xmlns:a="http://schemas.openxmlformats.org/drawingml/2006/main">
              <a:ext uri="{FF2B5EF4-FFF2-40B4-BE49-F238E27FC236}">
                <a16:creationId xmlns:a16="http://schemas.microsoft.com/office/drawing/2014/main" id="{6A171D00-F82E-4C37-88B6-88D5152E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2732" y="6353175"/>
            <a:ext cx="190595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1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025" b="0" i="1">
                <a:solidFill>
                  <a:srgbClr val="2F343D"/>
                </a:solidFill>
                <a:latin typeface="Arial"/>
                <a:ea typeface="Arial"/>
                <a:cs typeface="Arial"/>
              </a:rPr>
              <a:t>S</a:t>
            </a:r>
            <a:endParaRPr sz="2025" b="0" i="1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" name="formula-233">
            <a:extLst xmlns:a="http://schemas.openxmlformats.org/drawingml/2006/main">
              <a:ext uri="{FF2B5EF4-FFF2-40B4-BE49-F238E27FC236}">
                <a16:creationId xmlns:a16="http://schemas.microsoft.com/office/drawing/2014/main" id="{2D8FE69E-2671-4A15-A3FA-839EB5779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277" y="6443186"/>
            <a:ext cx="119158" cy="270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0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1420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3</a:t>
            </a:r>
            <a:endParaRPr sz="1420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" name="formula-234">
            <a:extLst xmlns:a="http://schemas.openxmlformats.org/drawingml/2006/main">
              <a:ext uri="{FF2B5EF4-FFF2-40B4-BE49-F238E27FC236}">
                <a16:creationId xmlns:a16="http://schemas.microsoft.com/office/drawing/2014/main" id="{68C0E3D6-19EB-4BBF-99F2-0ECA436EC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4385" y="6353175"/>
            <a:ext cx="1441704" cy="38576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025" b="0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 = 0 contour.</a:t>
            </a:r>
            <a:endParaRPr sz="2025" b="0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6" name="label-235">
            <a:extLst xmlns:a="http://schemas.openxmlformats.org/drawingml/2006/main">
              <a:ext uri="{FF2B5EF4-FFF2-40B4-BE49-F238E27FC236}">
                <a16:creationId xmlns:a16="http://schemas.microsoft.com/office/drawing/2014/main" id="{7B0D149A-F114-4B81-BE19-9B12F9447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6934200"/>
            <a:ext cx="136017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025" b="0" i="0">
                <a:solidFill>
                  <a:srgbClr val="616773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616773"/>
                </a:solidFill>
                <a:latin typeface="Arial"/>
                <a:ea typeface="Arial"/>
                <a:cs typeface="Arial"/>
              </a:rPr>
              <a:t>The scan step sets axial sampling; uncertainty is obtained from</a:t>
            </a:r>
            <a:endParaRPr sz="2025" b="0" i="0">
              <a:solidFill>
                <a:srgbClr val="616773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algn="ctr">
              <a:buNone/>
              <a:defRPr sz="2025" b="0" i="0">
                <a:solidFill>
                  <a:srgbClr val="616773"/>
                </a:solidFill>
                <a:latin typeface="Arial"/>
                <a:ea typeface="Arial"/>
                <a:cs typeface="Arial"/>
              </a:defRPr>
            </a:pPr>
            <a:r>
              <a:rPr sz="2025" b="0" i="0">
                <a:solidFill>
                  <a:srgbClr val="616773"/>
                </a:solidFill>
                <a:latin typeface="Arial"/>
                <a:ea typeface="Arial"/>
                <a:cs typeface="Arial"/>
              </a:rPr>
              <a:t>repeated calibrated count traces.</a:t>
            </a:r>
            <a:endParaRPr sz="2025" b="0" i="0">
              <a:solidFill>
                <a:srgbClr val="616773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7" name="label-236">
            <a:extLst xmlns:a="http://schemas.openxmlformats.org/drawingml/2006/main">
              <a:ext uri="{FF2B5EF4-FFF2-40B4-BE49-F238E27FC236}">
                <a16:creationId xmlns:a16="http://schemas.microsoft.com/office/drawing/2014/main" id="{169D6C08-43C4-4E21-9AFA-0EB2EED4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" y="7772400"/>
            <a:ext cx="13601700" cy="3714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2175" b="1" i="0">
                <a:solidFill>
                  <a:srgbClr val="2F343D"/>
                </a:solidFill>
                <a:latin typeface="Arial"/>
                <a:ea typeface="Arial"/>
                <a:cs typeface="Arial"/>
              </a:defRPr>
            </a:pPr>
            <a:r>
              <a:rPr sz="2175" b="1" i="0">
                <a:solidFill>
                  <a:srgbClr val="2F343D"/>
                </a:solidFill>
                <a:latin typeface="Arial"/>
                <a:ea typeface="Arial"/>
                <a:cs typeface="Arial"/>
              </a:rPr>
              <a:t>Apply the same event definition to every topological order.</a:t>
            </a:r>
            <a:endParaRPr sz="2175" b="1" i="0">
              <a:solidFill>
                <a:srgbClr val="2F343D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74968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2026-10-05T04:43:24.7250000Z</dcterms:created>
  <dcterms:modified xsi:type="dcterms:W3CDTF">2026-10-05T04:43:24.7250000Z</dcterms:modified>
</coreProperties>
</file>